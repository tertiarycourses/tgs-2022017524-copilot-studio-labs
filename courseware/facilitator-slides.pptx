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Types>
</file>

<file path=_rels/.rels><?xml version="1.0" encoding="utf-8"?>
<Relationships xmlns="http://schemas.openxmlformats.org/package/2006/relationships">
  
  
  <Relationship Id="rId3" Type="http://schemas.openxmlformats.org/package/2006/relationships/metadata/thumbnail" Target="docProps/thumbnail.jpeg"/>
  
  
  <Relationship Id="rId2" Type="http://schemas.openxmlformats.org/officeDocument/2006/relationships/officeDocument" Target="ppt/presentation.xml"/>
  
  
  <Relationship Id="rId1" Type="http://schemas.microsoft.com/office/2011/relationships/webextensiontaskpanes" Target="ppt/webextensions/taskpanes.xml"/>
  
  
  <Relationship Id="rId5" Type="http://schemas.openxmlformats.org/officeDocument/2006/relationships/extended-properties" Target="docProps/app.xml"/>
  
  
  <Relationship Id="rId4" Type="http://schemas.openxmlformats.org/package/2006/relationships/metadata/core-properties" Target="docProps/core.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8" r:id="rId2"/>
    <p:sldId id="259"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 id="274" r:id="rId18"/>
    <p:sldId id="275" r:id="rId19"/>
    <p:sldId id="276" r:id="rId20"/>
    <p:sldId id="277" r:id="rId21"/>
    <p:sldId id="278" r:id="rId22"/>
    <p:sldId id="279" r:id="rId23"/>
    <p:sldId id="280" r:id="rId24"/>
    <p:sldId id="281" r:id="rId25"/>
    <p:sldId id="282" r:id="rId26"/>
    <p:sldId id="283" r:id="rId27"/>
    <p:sldId id="284" r:id="rId28"/>
    <p:sldId id="285" r:id="rId29"/>
    <p:sldId id="286" r:id="rId30"/>
    <p:sldId id="287" r:id="rId31"/>
    <p:sldId id="288" r:id="rId32"/>
    <p:sldId id="289" r:id="rId33"/>
    <p:sldId id="290" r:id="rId34"/>
    <p:sldId id="291" r:id="rId35"/>
    <p:sldId id="345" r:id="rId93"/>
    <p:sldId id="346" r:id="rId94"/>
    <p:sldId id="292" r:id="rId36"/>
    <p:sldId id="293" r:id="rId37"/>
    <p:sldId id="294" r:id="rId38"/>
    <p:sldId id="295" r:id="rId39"/>
    <p:sldId id="296" r:id="rId40"/>
    <p:sldId id="297" r:id="rId41"/>
    <p:sldId id="298" r:id="rId42"/>
    <p:sldId id="299" r:id="rId43"/>
    <p:sldId id="300" r:id="rId44"/>
    <p:sldId id="301" r:id="rId45"/>
    <p:sldId id="302" r:id="rId46"/>
    <p:sldId id="303" r:id="rId47"/>
    <p:sldId id="304" r:id="rId48"/>
    <p:sldId id="305" r:id="rId49"/>
    <p:sldId id="306" r:id="rId50"/>
    <p:sldId id="307" r:id="rId51"/>
    <p:sldId id="308" r:id="rId52"/>
    <p:sldId id="309" r:id="rId53"/>
    <p:sldId id="310" r:id="rId54"/>
    <p:sldId id="347" r:id="rId95"/>
    <p:sldId id="348" r:id="rId96"/>
    <p:sldId id="349" r:id="rId97"/>
    <p:sldId id="311" r:id="rId55"/>
    <p:sldId id="312" r:id="rId56"/>
    <p:sldId id="313" r:id="rId57"/>
    <p:sldId id="314" r:id="rId58"/>
    <p:sldId id="315" r:id="rId59"/>
    <p:sldId id="316" r:id="rId60"/>
    <p:sldId id="317" r:id="rId61"/>
    <p:sldId id="318" r:id="rId62"/>
    <p:sldId id="319" r:id="rId63"/>
    <p:sldId id="320" r:id="rId64"/>
    <p:sldId id="321" r:id="rId65"/>
    <p:sldId id="322" r:id="rId66"/>
    <p:sldId id="323" r:id="rId67"/>
    <p:sldId id="324" r:id="rId68"/>
    <p:sldId id="325" r:id="rId69"/>
    <p:sldId id="326" r:id="rId70"/>
    <p:sldId id="350" r:id="rId98"/>
    <p:sldId id="327" r:id="rId71"/>
    <p:sldId id="328" r:id="rId72"/>
    <p:sldId id="329" r:id="rId73"/>
    <p:sldId id="330" r:id="rId74"/>
    <p:sldId id="331" r:id="rId75"/>
    <p:sldId id="332" r:id="rId76"/>
    <p:sldId id="333" r:id="rId77"/>
    <p:sldId id="334" r:id="rId78"/>
    <p:sldId id="335" r:id="rId79"/>
    <p:sldId id="336" r:id="rId80"/>
    <p:sldId id="337" r:id="rId81"/>
    <p:sldId id="338" r:id="rId82"/>
    <p:sldId id="351" r:id="rId99"/>
    <p:sldId id="339" r:id="rId83"/>
    <p:sldId id="340" r:id="rId84"/>
    <p:sldId id="341" r:id="rId85"/>
    <p:sldId id="342" r:id="rId86"/>
    <p:sldId id="343" r:id="rId87"/>
    <p:sldId id="344" r:id="rId8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51"/>
  </p:normalViewPr>
  <p:slideViewPr>
    <p:cSldViewPr snapToGrid="0">
      <p:cViewPr varScale="1">
        <p:scale>
          <a:sx n="90" d="100"/>
          <a:sy n="90" d="100"/>
        </p:scale>
        <p:origin x="216" y="728"/>
      </p:cViewPr>
      <p:guideLst/>
    </p:cSldViewPr>
  </p:slideViewPr>
  <p:notesTextViewPr>
    <p:cViewPr>
      <p:scale>
        <a:sx n="1" d="1"/>
        <a:sy n="1" d="1"/>
      </p:scale>
      <p:origin x="0" y="0"/>
    </p:cViewPr>
  </p:notesTextViewPr>
  <p:gridSpacing cx="72008" cy="72008"/>
</p:viewPr>
</file>

<file path=ppt/_rels/presentation.xml.rels><?xml version="1.0" encoding="utf-8"?>
<Relationships xmlns="http://schemas.openxmlformats.org/package/2006/relationships">
  
  
  <Relationship Id="rId26" Type="http://schemas.openxmlformats.org/officeDocument/2006/relationships/slide" Target="slides/slide25.xml"/>
  
  
  <Relationship Id="rId21" Type="http://schemas.openxmlformats.org/officeDocument/2006/relationships/slide" Target="slides/slide20.xml"/>
  
  
  <Relationship Id="rId42" Type="http://schemas.openxmlformats.org/officeDocument/2006/relationships/slide" Target="slides/slide41.xml"/>
  
  
  <Relationship Id="rId47" Type="http://schemas.openxmlformats.org/officeDocument/2006/relationships/slide" Target="slides/slide46.xml"/>
  
  
  <Relationship Id="rId63" Type="http://schemas.openxmlformats.org/officeDocument/2006/relationships/slide" Target="slides/slide62.xml"/>
  
  
  <Relationship Id="rId68" Type="http://schemas.openxmlformats.org/officeDocument/2006/relationships/slide" Target="slides/slide67.xml"/>
  
  
  <Relationship Id="rId84" Type="http://schemas.openxmlformats.org/officeDocument/2006/relationships/slide" Target="slides/slide83.xml"/>
  
  
  <Relationship Id="rId89" Type="http://schemas.openxmlformats.org/officeDocument/2006/relationships/presProps" Target="presProps.xml"/>
  
  
  <Relationship Id="rId16" Type="http://schemas.openxmlformats.org/officeDocument/2006/relationships/slide" Target="slides/slide15.xml"/>
  
  
  <Relationship Id="rId11" Type="http://schemas.openxmlformats.org/officeDocument/2006/relationships/slide" Target="slides/slide10.xml"/>
  
  
  <Relationship Id="rId32" Type="http://schemas.openxmlformats.org/officeDocument/2006/relationships/slide" Target="slides/slide31.xml"/>
  
  
  <Relationship Id="rId37" Type="http://schemas.openxmlformats.org/officeDocument/2006/relationships/slide" Target="slides/slide36.xml"/>
  
  
  <Relationship Id="rId53" Type="http://schemas.openxmlformats.org/officeDocument/2006/relationships/slide" Target="slides/slide52.xml"/>
  
  
  <Relationship Id="rId58" Type="http://schemas.openxmlformats.org/officeDocument/2006/relationships/slide" Target="slides/slide57.xml"/>
  
  
  <Relationship Id="rId74" Type="http://schemas.openxmlformats.org/officeDocument/2006/relationships/slide" Target="slides/slide73.xml"/>
  
  
  <Relationship Id="rId79" Type="http://schemas.openxmlformats.org/officeDocument/2006/relationships/slide" Target="slides/slide78.xml"/>
  
  
  <Relationship Id="rId5" Type="http://schemas.openxmlformats.org/officeDocument/2006/relationships/slide" Target="slides/slide4.xml"/>
  
  
  <Relationship Id="rId90" Type="http://schemas.openxmlformats.org/officeDocument/2006/relationships/viewProps" Target="viewProps.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slide" Target="slides/slide26.xml"/>
  
  
  <Relationship Id="rId30" Type="http://schemas.openxmlformats.org/officeDocument/2006/relationships/slide" Target="slides/slide29.xml"/>
  
  
  <Relationship Id="rId35" Type="http://schemas.openxmlformats.org/officeDocument/2006/relationships/slide" Target="slides/slide34.xml"/>
  
  
  <Relationship Id="rId43" Type="http://schemas.openxmlformats.org/officeDocument/2006/relationships/slide" Target="slides/slide42.xml"/>
  
  
  <Relationship Id="rId48" Type="http://schemas.openxmlformats.org/officeDocument/2006/relationships/slide" Target="slides/slide47.xml"/>
  
  
  <Relationship Id="rId56" Type="http://schemas.openxmlformats.org/officeDocument/2006/relationships/slide" Target="slides/slide55.xml"/>
  
  
  <Relationship Id="rId64" Type="http://schemas.openxmlformats.org/officeDocument/2006/relationships/slide" Target="slides/slide63.xml"/>
  
  
  <Relationship Id="rId69" Type="http://schemas.openxmlformats.org/officeDocument/2006/relationships/slide" Target="slides/slide68.xml"/>
  
  
  <Relationship Id="rId77" Type="http://schemas.openxmlformats.org/officeDocument/2006/relationships/slide" Target="slides/slide76.xml"/>
  
  
  <Relationship Id="rId8" Type="http://schemas.openxmlformats.org/officeDocument/2006/relationships/slide" Target="slides/slide7.xml"/>
  
  
  <Relationship Id="rId51" Type="http://schemas.openxmlformats.org/officeDocument/2006/relationships/slide" Target="slides/slide50.xml"/>
  
  
  <Relationship Id="rId72" Type="http://schemas.openxmlformats.org/officeDocument/2006/relationships/slide" Target="slides/slide71.xml"/>
  
  
  <Relationship Id="rId80" Type="http://schemas.openxmlformats.org/officeDocument/2006/relationships/slide" Target="slides/slide79.xml"/>
  
  
  <Relationship Id="rId85" Type="http://schemas.openxmlformats.org/officeDocument/2006/relationships/slide" Target="slides/slide84.xml"/>
  
  
  <Relationship Id="rId3" Type="http://schemas.openxmlformats.org/officeDocument/2006/relationships/slide" Target="slides/slide2.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slide" Target="slides/slide24.xml"/>
  
  
  <Relationship Id="rId33" Type="http://schemas.openxmlformats.org/officeDocument/2006/relationships/slide" Target="slides/slide32.xml"/>
  
  
  <Relationship Id="rId38" Type="http://schemas.openxmlformats.org/officeDocument/2006/relationships/slide" Target="slides/slide37.xml"/>
  
  
  <Relationship Id="rId46" Type="http://schemas.openxmlformats.org/officeDocument/2006/relationships/slide" Target="slides/slide45.xml"/>
  
  
  <Relationship Id="rId59" Type="http://schemas.openxmlformats.org/officeDocument/2006/relationships/slide" Target="slides/slide58.xml"/>
  
  
  <Relationship Id="rId67" Type="http://schemas.openxmlformats.org/officeDocument/2006/relationships/slide" Target="slides/slide66.xml"/>
  
  
  <Relationship Id="rId20" Type="http://schemas.openxmlformats.org/officeDocument/2006/relationships/slide" Target="slides/slide19.xml"/>
  
  
  <Relationship Id="rId41" Type="http://schemas.openxmlformats.org/officeDocument/2006/relationships/slide" Target="slides/slide40.xml"/>
  
  
  <Relationship Id="rId54" Type="http://schemas.openxmlformats.org/officeDocument/2006/relationships/slide" Target="slides/slide53.xml"/>
  
  
  <Relationship Id="rId62" Type="http://schemas.openxmlformats.org/officeDocument/2006/relationships/slide" Target="slides/slide61.xml"/>
  
  
  <Relationship Id="rId70" Type="http://schemas.openxmlformats.org/officeDocument/2006/relationships/slide" Target="slides/slide69.xml"/>
  
  
  <Relationship Id="rId75" Type="http://schemas.openxmlformats.org/officeDocument/2006/relationships/slide" Target="slides/slide74.xml"/>
  
  
  <Relationship Id="rId83" Type="http://schemas.openxmlformats.org/officeDocument/2006/relationships/slide" Target="slides/slide82.xml"/>
  
  
  <Relationship Id="rId88" Type="http://schemas.openxmlformats.org/officeDocument/2006/relationships/slide" Target="slides/slide87.xml"/>
  
  
  <Relationship Id="rId91" Type="http://schemas.openxmlformats.org/officeDocument/2006/relationships/theme" Target="theme/theme1.xml"/>
  
  
  <Relationship Id="rId1" Type="http://schemas.openxmlformats.org/officeDocument/2006/relationships/slideMaster" Target="slideMasters/slideMaster1.xml"/>
  
  
  <Relationship Id="rId6" Type="http://schemas.openxmlformats.org/officeDocument/2006/relationships/slide" Target="slides/slide5.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slide" Target="slides/slide27.xml"/>
  
  
  <Relationship Id="rId36" Type="http://schemas.openxmlformats.org/officeDocument/2006/relationships/slide" Target="slides/slide35.xml"/>
  
  
  <Relationship Id="rId49" Type="http://schemas.openxmlformats.org/officeDocument/2006/relationships/slide" Target="slides/slide48.xml"/>
  
  
  <Relationship Id="rId57" Type="http://schemas.openxmlformats.org/officeDocument/2006/relationships/slide" Target="slides/slide56.xml"/>
  
  
  <Relationship Id="rId10" Type="http://schemas.openxmlformats.org/officeDocument/2006/relationships/slide" Target="slides/slide9.xml"/>
  
  
  <Relationship Id="rId31" Type="http://schemas.openxmlformats.org/officeDocument/2006/relationships/slide" Target="slides/slide30.xml"/>
  
  
  <Relationship Id="rId44" Type="http://schemas.openxmlformats.org/officeDocument/2006/relationships/slide" Target="slides/slide43.xml"/>
  
  
  <Relationship Id="rId52" Type="http://schemas.openxmlformats.org/officeDocument/2006/relationships/slide" Target="slides/slide51.xml"/>
  
  
  <Relationship Id="rId60" Type="http://schemas.openxmlformats.org/officeDocument/2006/relationships/slide" Target="slides/slide59.xml"/>
  
  
  <Relationship Id="rId65" Type="http://schemas.openxmlformats.org/officeDocument/2006/relationships/slide" Target="slides/slide64.xml"/>
  
  
  <Relationship Id="rId73" Type="http://schemas.openxmlformats.org/officeDocument/2006/relationships/slide" Target="slides/slide72.xml"/>
  
  
  <Relationship Id="rId78" Type="http://schemas.openxmlformats.org/officeDocument/2006/relationships/slide" Target="slides/slide77.xml"/>
  
  
  <Relationship Id="rId81" Type="http://schemas.openxmlformats.org/officeDocument/2006/relationships/slide" Target="slides/slide80.xml"/>
  
  
  <Relationship Id="rId86" Type="http://schemas.openxmlformats.org/officeDocument/2006/relationships/slide" Target="slides/slide85.xml"/>
  
  
  <Relationship Id="rId4" Type="http://schemas.openxmlformats.org/officeDocument/2006/relationships/slide" Target="slides/slide3.xml"/>
  
  
  <Relationship Id="rId9" Type="http://schemas.openxmlformats.org/officeDocument/2006/relationships/slide" Target="slides/slide8.xml"/>
  
  
  <Relationship Id="rId13" Type="http://schemas.openxmlformats.org/officeDocument/2006/relationships/slide" Target="slides/slide12.xml"/>
  
  
  <Relationship Id="rId18" Type="http://schemas.openxmlformats.org/officeDocument/2006/relationships/slide" Target="slides/slide17.xml"/>
  
  
  <Relationship Id="rId39" Type="http://schemas.openxmlformats.org/officeDocument/2006/relationships/slide" Target="slides/slide38.xml"/>
  
  
  <Relationship Id="rId34" Type="http://schemas.openxmlformats.org/officeDocument/2006/relationships/slide" Target="slides/slide33.xml"/>
  
  
  <Relationship Id="rId50" Type="http://schemas.openxmlformats.org/officeDocument/2006/relationships/slide" Target="slides/slide49.xml"/>
  
  
  <Relationship Id="rId55" Type="http://schemas.openxmlformats.org/officeDocument/2006/relationships/slide" Target="slides/slide54.xml"/>
  
  
  <Relationship Id="rId76" Type="http://schemas.openxmlformats.org/officeDocument/2006/relationships/slide" Target="slides/slide75.xml"/>
  
  
  <Relationship Id="rId7" Type="http://schemas.openxmlformats.org/officeDocument/2006/relationships/slide" Target="slides/slide6.xml"/>
  
  
  <Relationship Id="rId71" Type="http://schemas.openxmlformats.org/officeDocument/2006/relationships/slide" Target="slides/slide70.xml"/>
  
  
  <Relationship Id="rId92" Type="http://schemas.openxmlformats.org/officeDocument/2006/relationships/tableStyles" Target="tableStyles.xml"/>
  
  
  <Relationship Id="rId2" Type="http://schemas.openxmlformats.org/officeDocument/2006/relationships/slide" Target="slides/slide1.xml"/>
  
  
  <Relationship Id="rId29" Type="http://schemas.openxmlformats.org/officeDocument/2006/relationships/slide" Target="slides/slide28.xml"/>
  
  
  <Relationship Id="rId24" Type="http://schemas.openxmlformats.org/officeDocument/2006/relationships/slide" Target="slides/slide23.xml"/>
  
  
  <Relationship Id="rId40" Type="http://schemas.openxmlformats.org/officeDocument/2006/relationships/slide" Target="slides/slide39.xml"/>
  
  
  <Relationship Id="rId45" Type="http://schemas.openxmlformats.org/officeDocument/2006/relationships/slide" Target="slides/slide44.xml"/>
  
  
  <Relationship Id="rId66" Type="http://schemas.openxmlformats.org/officeDocument/2006/relationships/slide" Target="slides/slide65.xml"/>
  
  
  <Relationship Id="rId87" Type="http://schemas.openxmlformats.org/officeDocument/2006/relationships/slide" Target="slides/slide86.xml"/>
  
  
  <Relationship Id="rId61" Type="http://schemas.openxmlformats.org/officeDocument/2006/relationships/slide" Target="slides/slide60.xml"/>
  
  
  <Relationship Id="rId82" Type="http://schemas.openxmlformats.org/officeDocument/2006/relationships/slide" Target="slides/slide81.xml"/>
  
  
  <Relationship Id="rId19" Type="http://schemas.openxmlformats.org/officeDocument/2006/relationships/slide" Target="slides/slide18.xml"/>
  
  
  <Relationship Id="rId93" Type="http://schemas.openxmlformats.org/officeDocument/2006/relationships/slide" Target="slides/slide88.xml"/>
  
  
  <Relationship Id="rId94" Type="http://schemas.openxmlformats.org/officeDocument/2006/relationships/slide" Target="slides/slide89.xml"/>
  
  
  <Relationship Id="rId95" Type="http://schemas.openxmlformats.org/officeDocument/2006/relationships/slide" Target="slides/slide90.xml"/>
  
  
  <Relationship Id="rId96" Type="http://schemas.openxmlformats.org/officeDocument/2006/relationships/slide" Target="slides/slide91.xml"/>
  
  
  <Relationship Id="rId97" Type="http://schemas.openxmlformats.org/officeDocument/2006/relationships/slide" Target="slides/slide92.xml"/>
  
  
  <Relationship Id="rId98" Type="http://schemas.openxmlformats.org/officeDocument/2006/relationships/slide" Target="slides/slide93.xml"/>
  

  <Relationship Id="rId99" Type="http://schemas.openxmlformats.org/officeDocument/2006/relationships/slide" Target="slides/slide94.xml"/>
</Relationship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946D94-6626-3BFF-0A17-61948D6E3E71}"/>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D7B82959-52E1-24EA-654D-899B4BD852B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DCEC601-C670-DE5C-B4B0-7A9A0C1D1642}"/>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108A4546-02A5-E0E4-1B88-DDD5C232860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E49858-4AC1-6BEE-F28D-B259566E420C}"/>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9606325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C708F2-2494-FD25-40BA-7A458F90F929}"/>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F4D68CF-139A-1485-F8C3-1135EBA75DAE}"/>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3C795C4C-F738-AC92-997B-00880EDFFF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29EB43F1-EC25-F65B-2464-2BB178DDEAE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8E87FA-9C49-DA04-2AEC-CE02D08448E7}"/>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8243251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3621AD-FA2B-E962-1895-0B829208A4E2}"/>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8E0FC836-5AF6-11F1-ABDC-F6A1CD43882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F6EFEB5A-83F2-D22F-1013-D078D5F9884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59D6E6E4-9057-95F7-57F5-42B4228D00C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135C075-54A9-7B26-2083-EAEF01DE4751}"/>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4290151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CEEAB-96C8-B417-18FB-A71942AA2462}"/>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6DED5E33-F4BD-5B41-65F4-A233430D459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4D030329-B6CA-2C59-7CE7-8211A389709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B89AF930-D68C-D4BB-D655-76183CA60C3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33ED846B-938E-E072-48D2-C7D94D9591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4ACB0EE-912C-A444-3339-E1B54EF3B27B}"/>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2515280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72965-DF3B-ED3E-7532-71CC7BC907B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390DB5A2-A181-E7B2-6ED3-6A3E56EE463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067B1024-7DAF-4B66-9FB5-FC3C33D7311D}"/>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08D5716D-854D-ACD7-D87B-1AF011AEDF5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8AD5961B-F921-8CBD-BC63-8FE4505D5744}"/>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D8E2C8CF-7AD9-FDC8-5CD5-04645E926AB1}"/>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8" name="Footer Placeholder 7">
            <a:extLst>
              <a:ext uri="{FF2B5EF4-FFF2-40B4-BE49-F238E27FC236}">
                <a16:creationId xmlns:a16="http://schemas.microsoft.com/office/drawing/2014/main" id="{DC47C7EC-D94D-F23D-3AD7-F978DC38F0B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C0BC93F-DE87-5D34-711A-0A7C96BC89B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9343493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85314-FF69-9488-55AA-609B6D6C4545}"/>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70D0D748-7526-E5B4-882B-CD1974BE7A5D}"/>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4" name="Footer Placeholder 3">
            <a:extLst>
              <a:ext uri="{FF2B5EF4-FFF2-40B4-BE49-F238E27FC236}">
                <a16:creationId xmlns:a16="http://schemas.microsoft.com/office/drawing/2014/main" id="{A51BB65D-3C7C-330F-F2E4-68BE6A78C36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33AB25-A9B3-E208-BB21-C2850A87C7B5}"/>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58217834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BCC9D19-4C72-6EBE-BEBB-990F367C8E26}"/>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3" name="Footer Placeholder 2">
            <a:extLst>
              <a:ext uri="{FF2B5EF4-FFF2-40B4-BE49-F238E27FC236}">
                <a16:creationId xmlns:a16="http://schemas.microsoft.com/office/drawing/2014/main" id="{9C7E9465-1D86-3400-70F7-6C14221D641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04DA129-7B6B-7A0C-6CD8-225A88BC4943}"/>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2916638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C83D7A-3E00-B6C8-FC83-37E63C7A337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ED8F536C-DEC8-9406-DD9A-A159888086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D01E554-74F9-4F2B-DACA-7437D1FAD93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25B9C74-1F4A-2756-20E0-3A30ED8FDF6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AFB6718F-0AFB-B05B-56DD-676CA42EC65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C6564F-EB95-772B-629C-CA39D04B366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996015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F3D48-84A0-3F37-1AE1-A5DA0976C0AF}"/>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0D64D8CE-7D33-3A1C-0B10-C0B372A0E3D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8818348-DD38-2ED9-AC93-F0E0BC5AFE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B1CF0CDE-79A3-51A3-3B3F-A9FD15F51633}"/>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6" name="Footer Placeholder 5">
            <a:extLst>
              <a:ext uri="{FF2B5EF4-FFF2-40B4-BE49-F238E27FC236}">
                <a16:creationId xmlns:a16="http://schemas.microsoft.com/office/drawing/2014/main" id="{4FD91F49-8EAB-7B01-7B0F-F33734242F9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F3271A9-A83C-0006-00BD-C17BB3DE7C5A}"/>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21948946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BBB60-560A-1F72-035E-D28F19A92A87}"/>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EC3B78FD-69CC-9F5B-3C11-CA323EC93BBD}"/>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736BB40-F65B-5299-E32D-CB9858A5948A}"/>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8487E16-F02D-E203-D4E9-10D833FCA5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0882DCF-D6B7-31C6-D936-E12073FA200F}"/>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14908634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BFF187E-5DCA-9F88-B1CD-F03AB7AF3A1B}"/>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32412709-B093-275F-2926-9D91A5824F66}"/>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6667EC-5ABA-1D42-42D4-EC9393BBC3FE}"/>
              </a:ext>
            </a:extLst>
          </p:cNvPr>
          <p:cNvSpPr>
            <a:spLocks noGrp="1"/>
          </p:cNvSpPr>
          <p:nvPr>
            <p:ph type="dt" sz="half" idx="10"/>
          </p:nvPr>
        </p:nvSpPr>
        <p:spPr/>
        <p:txBody>
          <a:body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D46A2F67-6755-C1B8-DF06-6E0417CD328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80EB6B-719C-9679-CCF7-F153C3A2B752}"/>
              </a:ext>
            </a:extLst>
          </p:cNvPr>
          <p:cNvSpPr>
            <a:spLocks noGrp="1"/>
          </p:cNvSpPr>
          <p:nvPr>
            <p:ph type="sldNum" sz="quarter" idx="12"/>
          </p:nvPr>
        </p:nvSpPr>
        <p:spPr/>
        <p:txBody>
          <a:bodyPr/>
          <a:lstStyle/>
          <a:p>
            <a:fld id="{1B6755A7-B2F0-374C-BC3B-9231083D8773}" type="slidenum">
              <a:rPr lang="en-US" smtClean="0"/>
              <a:t>‹#›</a:t>
            </a:fld>
            <a:endParaRPr lang="en-US"/>
          </a:p>
        </p:txBody>
      </p:sp>
    </p:spTree>
    <p:extLst>
      <p:ext uri="{BB962C8B-B14F-4D97-AF65-F5344CB8AC3E}">
        <p14:creationId xmlns:p14="http://schemas.microsoft.com/office/powerpoint/2010/main" val="3153670437"/>
      </p:ext>
    </p:extLst>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EE80EE1-0B02-5C56-7378-94DD6DA055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95AE5EFC-134F-BED3-F8A7-9FE56534CD2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1F202C69-0810-50C4-85CE-437D064ED2E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507F4EC-F5FE-2D4B-BE07-2A0946F33E8D}" type="datetimeFigureOut">
              <a:rPr lang="en-US" smtClean="0"/>
              <a:t>6/23/26</a:t>
            </a:fld>
            <a:endParaRPr lang="en-US"/>
          </a:p>
        </p:txBody>
      </p:sp>
      <p:sp>
        <p:nvSpPr>
          <p:cNvPr id="5" name="Footer Placeholder 4">
            <a:extLst>
              <a:ext uri="{FF2B5EF4-FFF2-40B4-BE49-F238E27FC236}">
                <a16:creationId xmlns:a16="http://schemas.microsoft.com/office/drawing/2014/main" id="{A70AED32-ED41-42FF-749B-D7F0BB6346E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998D752B-E364-D67C-7654-6A11A46BA23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6755A7-B2F0-374C-BC3B-9231083D8773}" type="slidenum">
              <a:rPr lang="en-US" smtClean="0"/>
              <a:t>‹#›</a:t>
            </a:fld>
            <a:endParaRPr lang="en-US"/>
          </a:p>
        </p:txBody>
      </p:sp>
      <p:sp>
        <p:nvSpPr>
          <p:cNvPr id="900" name="AccentBar"/>
          <p:cNvSpPr/>
          <p:nvPr/>
        </p:nvSpPr>
        <p:spPr>
          <a:xfrm>
            <a:off x="0" y="6629400"/>
            <a:ext cx="9144000" cy="228600"/>
          </a:xfrm>
          <a:prstGeom prst="rect">
            <a:avLst/>
          </a:prstGeom>
          <a:gradFill>
            <a:gsLst>
              <a:gs pos="0">
                <a:srgbClr val="2563EB"/>
              </a:gs>
              <a:gs pos="50000">
                <a:srgbClr val="7C3AED"/>
              </a:gs>
              <a:gs pos="100000">
                <a:srgbClr val="06B6D4"/>
              </a:gs>
            </a:gsLst>
            <a:lin ang="0" scaled="1"/>
          </a:gradFill>
          <a:ln>
            <a:noFill/>
          </a:ln>
        </p:spPr>
        <p:txBody>
          <a:bodyPr/>
          <a:lstStyle/>
          <a:p>
            <a:endParaRPr/>
          </a:p>
        </p:txBody>
      </p:sp>
    </p:spTree>
    <p:extLst>
      <p:ext uri="{BB962C8B-B14F-4D97-AF65-F5344CB8AC3E}">
        <p14:creationId xmlns:p14="http://schemas.microsoft.com/office/powerpoint/2010/main" val="322140535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rgbClr val="1B1B2F"/>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rgbClr val="2B2B40"/>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5.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6.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10.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1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6.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1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18.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1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6.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8.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2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1.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32.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33.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34.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3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6.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3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38.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3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6.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47.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48.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4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5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5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52.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53.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54.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55.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56.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57.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58.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59.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60.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6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6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6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6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6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66.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67.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68.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69.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7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71.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7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7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74.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75.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76.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77.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78.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79.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0.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1.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2.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3.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4.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5.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6.xml.rels><?xml version="1.0" encoding="utf-8"?>
<Relationships xmlns="http://schemas.openxmlformats.org/package/2006/relationships">
  
  
  <Relationship Id="rId1" Type="http://schemas.openxmlformats.org/officeDocument/2006/relationships/slideLayout" Target="../slideLayouts/slideLayout2.xml"/>
  

</Relationships>

</file>

<file path=ppt/slides/_rels/slide87.xml.rels><?xml version="1.0" encoding="utf-8"?>
<Relationships xmlns="http://schemas.openxmlformats.org/package/2006/relationships">
  
  
  <Relationship Id="rId1" Type="http://schemas.openxmlformats.org/officeDocument/2006/relationships/slideLayout" Target="../slideLayouts/slideLayout3.xml"/>
  

</Relationships>

</file>

<file path=ppt/slides/_rels/slide88.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89.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90.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91.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92.xml.rels><?xml version="1.0" encoding="utf-8"?>
<Relationships xmlns="http://schemas.openxmlformats.org/package/2006/relationships">
  
  
  <Relationship Id="rId1" Type="http://schemas.openxmlformats.org/officeDocument/2006/relationships/slideLayout" Target="../slideLayouts/slideLayout4.xml"/>
  

</Relationships>

</file>

<file path=ppt/slides/_rels/slide93.xml.rels><?xml version="1.0" encoding="utf-8"?>
<Relationships xmlns="http://schemas.openxmlformats.org/package/2006/relationships">
  
  
  <Relationship Id="rId1" Type="http://schemas.openxmlformats.org/officeDocument/2006/relationships/slideLayout" Target="../slideLayouts/slideLayout6.xml"/>
  

</Relationships>

</file>

<file path=ppt/slides/_rels/slide94.xml.rels><?xml version="1.0" encoding="utf-8"?>
<Relationships xmlns="http://schemas.openxmlformats.org/package/2006/relationships">
  
  
  <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2EDD3-BAC6-2E59-FAA8-908301B11942}"/>
              </a:ext>
            </a:extLst>
          </p:cNvPr>
          <p:cNvSpPr>
            <a:spLocks noGrp="1"/>
          </p:cNvSpPr>
          <p:nvPr>
            <p:ph type="ctrTitle"/>
          </p:nvPr>
        </p:nvSpPr>
        <p:spPr/>
        <p:txBody>
          <a:bodyPr/>
          <a:lstStyle/>
          <a:p>
            <a:pPr algn="ctr"/>
            <a:r>
              <a:rPr lang="en-US" sz="4000" b="1" dirty="0"/>
              <a:t>Microsoft Copilot Studio &amp; Power Automate</a:t>
            </a:r>
          </a:p>
        </p:txBody>
      </p:sp>
      <p:sp>
        <p:nvSpPr>
          <p:cNvPr id="3" name="Subtitle 2">
            <a:extLst>
              <a:ext uri="{FF2B5EF4-FFF2-40B4-BE49-F238E27FC236}">
                <a16:creationId xmlns:a16="http://schemas.microsoft.com/office/drawing/2014/main" id="{2C0574B3-66A5-8402-1E67-380A6A832EEC}"/>
              </a:ext>
            </a:extLst>
          </p:cNvPr>
          <p:cNvSpPr>
            <a:spLocks noGrp="1"/>
          </p:cNvSpPr>
          <p:nvPr>
            <p:ph type="subTitle" idx="1"/>
          </p:nvPr>
        </p:nvSpPr>
        <p:spPr/>
        <p:txBody>
          <a:bodyPr/>
          <a:lstStyle/>
          <a:p>
            <a:pPr algn="ctr"/>
            <a:r>
              <a:rPr lang="en-US" sz="2400" b="1" dirty="0">
                <a:solidFill>
                  <a:schemeClr val="accent2"/>
                </a:solidFill>
              </a:rPr>
              <a:t>for Business Workflow Automation</a:t>
            </a:r>
          </a:p>
          <a:p>
            <a:pPr algn="ctr"/>
            <a:r>
              <a:rPr lang="en-US" sz="1600" dirty="0">
                <a:solidFill>
                  <a:schemeClr val="dk2"/>
                </a:solidFill>
              </a:rPr>
              <a:t>3-Day Hands-On Training  ·  Modules 1–5</a:t>
            </a:r>
          </a:p>
        </p:txBody>
      </p:sp>
    </p:spTree>
    <p:extLst>
      <p:ext uri="{BB962C8B-B14F-4D97-AF65-F5344CB8AC3E}">
        <p14:creationId xmlns:p14="http://schemas.microsoft.com/office/powerpoint/2010/main" val="2880286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603E05-11DE-3F8B-50E5-7A6EEE6C1FDF}"/>
              </a:ext>
            </a:extLst>
          </p:cNvPr>
          <p:cNvSpPr>
            <a:spLocks noGrp="1"/>
          </p:cNvSpPr>
          <p:nvPr>
            <p:ph type="title"/>
          </p:nvPr>
        </p:nvSpPr>
        <p:spPr/>
        <p:txBody>
          <a:bodyPr/>
          <a:lstStyle/>
          <a:p>
            <a:r>
              <a:rPr lang="en-US"/>
              <a:t>What You'll Learn</a:t>
            </a:r>
          </a:p>
        </p:txBody>
      </p:sp>
      <p:sp>
        <p:nvSpPr>
          <p:cNvPr id="3" name="Content Placeholder 2">
            <a:extLst>
              <a:ext uri="{FF2B5EF4-FFF2-40B4-BE49-F238E27FC236}">
                <a16:creationId xmlns:a16="http://schemas.microsoft.com/office/drawing/2014/main" id="{2BD0C846-1323-57D0-5421-832FBED406BE}"/>
              </a:ext>
            </a:extLst>
          </p:cNvPr>
          <p:cNvSpPr>
            <a:spLocks noGrp="1"/>
          </p:cNvSpPr>
          <p:nvPr>
            <p:ph idx="1"/>
          </p:nvPr>
        </p:nvSpPr>
        <p:spPr/>
        <p:txBody>
          <a:bodyPr>
            <a:normAutofit/>
          </a:bodyPr>
          <a:lstStyle/>
          <a:p>
            <a:r>
              <a:rPr lang="en-US" sz="1800"/>
              <a:t>Automate repetitive business work with Microsoft Power Automate
Build AI-powered business agents in Microsoft Copilot Studio
Connect agents to flows for true end-to-end automation
Design real workflows for sales, finance, procurement and operations
Practise in hands-on labs every day — you build working automations</a:t>
            </a:r>
          </a:p>
        </p:txBody>
      </p:sp>
    </p:spTree>
    <p:extLst>
      <p:ext uri="{BB962C8B-B14F-4D97-AF65-F5344CB8AC3E}">
        <p14:creationId xmlns:p14="http://schemas.microsoft.com/office/powerpoint/2010/main" val="1350916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666F75-3095-8ABE-D50E-416B9303D236}"/>
              </a:ext>
            </a:extLst>
          </p:cNvPr>
          <p:cNvSpPr>
            <a:spLocks noGrp="1"/>
          </p:cNvSpPr>
          <p:nvPr>
            <p:ph type="title"/>
          </p:nvPr>
        </p:nvSpPr>
        <p:spPr/>
        <p:txBody>
          <a:bodyPr/>
          <a:lstStyle/>
          <a:p>
            <a:r>
              <a:rPr lang="en-US"/>
              <a:t>Your 3-Day Journey</a:t>
            </a:r>
          </a:p>
        </p:txBody>
      </p:sp>
      <p:sp>
        <p:nvSpPr>
          <p:cNvPr id="3" name="Content Placeholder 2">
            <a:extLst>
              <a:ext uri="{FF2B5EF4-FFF2-40B4-BE49-F238E27FC236}">
                <a16:creationId xmlns:a16="http://schemas.microsoft.com/office/drawing/2014/main" id="{DDDFAD1D-5614-0573-B56D-FB5CFBE222BF}"/>
              </a:ext>
            </a:extLst>
          </p:cNvPr>
          <p:cNvSpPr>
            <a:spLocks noGrp="1"/>
          </p:cNvSpPr>
          <p:nvPr>
            <p:ph idx="1"/>
          </p:nvPr>
        </p:nvSpPr>
        <p:spPr/>
        <p:txBody>
          <a:bodyPr>
            <a:normAutofit/>
          </a:bodyPr>
          <a:lstStyle/>
          <a:p>
            <a:r>
              <a:rPr lang="en-US" sz="1800"/>
              <a:t>Day 1 — Foundations &amp; Power Automate: automation logic, triggers, actions, 5 labs
Day 2 — Copilot Studio Agents: agents, knowledge, tools, prompt design, 6 labs
Day 3 — End-to-End &amp; Workshop: orchestration, 4 lab workflows, capstone project
Each topic follows: concept → live demo → you build it
You finish with working automations you can take back to work</a:t>
            </a:r>
          </a:p>
        </p:txBody>
      </p:sp>
    </p:spTree>
    <p:extLst>
      <p:ext uri="{BB962C8B-B14F-4D97-AF65-F5344CB8AC3E}">
        <p14:creationId xmlns:p14="http://schemas.microsoft.com/office/powerpoint/2010/main" val="11002393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13AA7-4DA7-CC16-826D-ADE731091BB5}"/>
              </a:ext>
            </a:extLst>
          </p:cNvPr>
          <p:cNvSpPr>
            <a:spLocks noGrp="1"/>
          </p:cNvSpPr>
          <p:nvPr>
            <p:ph type="title"/>
          </p:nvPr>
        </p:nvSpPr>
        <p:spPr/>
        <p:txBody>
          <a:bodyPr/>
          <a:lstStyle/>
          <a:p>
            <a:r>
              <a:rPr lang="en-US"/>
              <a:t>How This Course Works</a:t>
            </a:r>
          </a:p>
        </p:txBody>
      </p:sp>
      <p:sp>
        <p:nvSpPr>
          <p:cNvPr id="3" name="Content Placeholder 2">
            <a:extLst>
              <a:ext uri="{FF2B5EF4-FFF2-40B4-BE49-F238E27FC236}">
                <a16:creationId xmlns:a16="http://schemas.microsoft.com/office/drawing/2014/main" id="{7B3224E6-4588-00FC-0A91-30E022E8DF8B}"/>
              </a:ext>
            </a:extLst>
          </p:cNvPr>
          <p:cNvSpPr>
            <a:spLocks noGrp="1"/>
          </p:cNvSpPr>
          <p:nvPr>
            <p:ph idx="1"/>
          </p:nvPr>
        </p:nvSpPr>
        <p:spPr/>
        <p:txBody>
          <a:bodyPr>
            <a:normAutofit/>
          </a:bodyPr>
          <a:lstStyle/>
          <a:p>
            <a:r>
              <a:rPr lang="en-US" sz="1800"/>
              <a:t>Concept, then demo, then hands-on — for every topic
Built entirely in Microsoft 365 and the Power Platform
No coding required — low-code, drag-and-drop tools
Save your flows and agents to reuse in your own role
Daily recap and open Q&amp;A to lock in what you learned</a:t>
            </a:r>
          </a:p>
        </p:txBody>
      </p:sp>
    </p:spTree>
    <p:extLst>
      <p:ext uri="{BB962C8B-B14F-4D97-AF65-F5344CB8AC3E}">
        <p14:creationId xmlns:p14="http://schemas.microsoft.com/office/powerpoint/2010/main" val="225920329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6566B-DDB3-D4E9-286D-8A7355B36992}"/>
              </a:ext>
            </a:extLst>
          </p:cNvPr>
          <p:cNvSpPr>
            <a:spLocks noGrp="1"/>
          </p:cNvSpPr>
          <p:nvPr>
            <p:ph type="title"/>
          </p:nvPr>
        </p:nvSpPr>
        <p:spPr/>
        <p:txBody>
          <a:bodyPr/>
          <a:lstStyle/>
          <a:p>
            <a:r>
              <a:rPr lang="en-US"/>
              <a:t>Day 1 — Foundations &amp; Power Automate</a:t>
            </a:r>
          </a:p>
        </p:txBody>
      </p:sp>
      <p:sp>
        <p:nvSpPr>
          <p:cNvPr id="3" name="Text Placeholder 2">
            <a:extLst>
              <a:ext uri="{FF2B5EF4-FFF2-40B4-BE49-F238E27FC236}">
                <a16:creationId xmlns:a16="http://schemas.microsoft.com/office/drawing/2014/main" id="{A4F2EA11-3469-BCFF-0FC0-4A7CEAAE105C}"/>
              </a:ext>
            </a:extLst>
          </p:cNvPr>
          <p:cNvSpPr>
            <a:spLocks noGrp="1"/>
          </p:cNvSpPr>
          <p:nvPr>
            <p:ph type="body" idx="1"/>
          </p:nvPr>
        </p:nvSpPr>
        <p:spPr/>
        <p:txBody>
          <a:bodyPr>
            <a:normAutofit/>
          </a:bodyPr>
          <a:lstStyle/>
          <a:p>
            <a:r>
              <a:rPr lang="en-US" sz="1800" b="1">
                <a:solidFill>
                  <a:srgbClr val="7C3AED"/>
                </a:solidFill>
              </a:rPr>
              <a:t>Modules 1 &amp; 2  ·  Understand automation, then build your first flows</a:t>
            </a:r>
          </a:p>
        </p:txBody>
      </p:sp>
    </p:spTree>
    <p:extLst>
      <p:ext uri="{BB962C8B-B14F-4D97-AF65-F5344CB8AC3E}">
        <p14:creationId xmlns:p14="http://schemas.microsoft.com/office/powerpoint/2010/main" val="20294707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F3D06-570F-FD7F-3645-923649493285}"/>
              </a:ext>
            </a:extLst>
          </p:cNvPr>
          <p:cNvSpPr>
            <a:spLocks noGrp="1"/>
          </p:cNvSpPr>
          <p:nvPr>
            <p:ph type="title"/>
          </p:nvPr>
        </p:nvSpPr>
        <p:spPr/>
        <p:txBody>
          <a:bodyPr/>
          <a:lstStyle/>
          <a:p>
            <a:r>
              <a:rPr lang="en-US"/>
              <a:t>Module 1 · Introduction to Workflow Automation</a:t>
            </a:r>
          </a:p>
        </p:txBody>
      </p:sp>
      <p:sp>
        <p:nvSpPr>
          <p:cNvPr id="3" name="Text Placeholder 2">
            <a:extLst>
              <a:ext uri="{FF2B5EF4-FFF2-40B4-BE49-F238E27FC236}">
                <a16:creationId xmlns:a16="http://schemas.microsoft.com/office/drawing/2014/main" id="{01B7D423-F9EF-3654-C117-BB37D8EA943C}"/>
              </a:ext>
            </a:extLst>
          </p:cNvPr>
          <p:cNvSpPr>
            <a:spLocks noGrp="1"/>
          </p:cNvSpPr>
          <p:nvPr>
            <p:ph type="body" idx="1"/>
          </p:nvPr>
        </p:nvSpPr>
        <p:spPr/>
        <p:txBody>
          <a:bodyPr>
            <a:normAutofit/>
          </a:bodyPr>
          <a:lstStyle/>
          <a:p>
            <a:r>
              <a:rPr lang="en-US" sz="1800" b="1">
                <a:solidFill>
                  <a:srgbClr val="7C3AED"/>
                </a:solidFill>
              </a:rPr>
              <a:t>Why automate, and the building blocks behind every workflow</a:t>
            </a:r>
          </a:p>
        </p:txBody>
      </p:sp>
    </p:spTree>
    <p:extLst>
      <p:ext uri="{BB962C8B-B14F-4D97-AF65-F5344CB8AC3E}">
        <p14:creationId xmlns:p14="http://schemas.microsoft.com/office/powerpoint/2010/main" val="2293972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8F3E1D-8293-17EA-02D6-126EFD28E80F}"/>
              </a:ext>
            </a:extLst>
          </p:cNvPr>
          <p:cNvSpPr>
            <a:spLocks noGrp="1"/>
          </p:cNvSpPr>
          <p:nvPr>
            <p:ph type="title"/>
          </p:nvPr>
        </p:nvSpPr>
        <p:spPr/>
        <p:txBody>
          <a:bodyPr/>
          <a:lstStyle/>
          <a:p>
            <a:r>
              <a:rPr lang="en-US"/>
              <a:t>What Is Business Workflow Automation?</a:t>
            </a:r>
          </a:p>
        </p:txBody>
      </p:sp>
      <p:sp>
        <p:nvSpPr>
          <p:cNvPr id="3" name="Content Placeholder 2">
            <a:extLst>
              <a:ext uri="{FF2B5EF4-FFF2-40B4-BE49-F238E27FC236}">
                <a16:creationId xmlns:a16="http://schemas.microsoft.com/office/drawing/2014/main" id="{635CBD14-D291-22AB-6BBC-F33D92DC2BEA}"/>
              </a:ext>
            </a:extLst>
          </p:cNvPr>
          <p:cNvSpPr>
            <a:spLocks noGrp="1"/>
          </p:cNvSpPr>
          <p:nvPr>
            <p:ph idx="1"/>
          </p:nvPr>
        </p:nvSpPr>
        <p:spPr/>
        <p:txBody>
          <a:bodyPr>
            <a:normAutofit/>
          </a:bodyPr>
          <a:lstStyle/>
          <a:p>
            <a:r>
              <a:rPr lang="en-US" sz="1800"/>
              <a:t>A workflow is a repeatable series of steps that gets work done
Automation lets software run those steps for you
It replaces manual, repetitive tasks — copying data, sending emails, chasing approvals
Runs reliably and consistently, with far fewer errors
People focus on judgement; software handles the routine</a:t>
            </a:r>
          </a:p>
        </p:txBody>
      </p:sp>
    </p:spTree>
    <p:extLst>
      <p:ext uri="{BB962C8B-B14F-4D97-AF65-F5344CB8AC3E}">
        <p14:creationId xmlns:p14="http://schemas.microsoft.com/office/powerpoint/2010/main" val="25070225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Why Automate?</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Save time — reclaim hours of manual work every week
Reduce errors — consistent, rule-based execution every time
Respond faster — instant notifications and approvals
Gain visibility — every step is logged and traceable
Scale easily — handle more volume without more headcount</a:t>
            </a:r>
          </a:p>
        </p:txBody>
      </p:sp>
    </p:spTree>
    <p:extLst>
      <p:ext uri="{BB962C8B-B14F-4D97-AF65-F5344CB8AC3E}">
        <p14:creationId xmlns:p14="http://schemas.microsoft.com/office/powerpoint/2010/main" val="20836445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C77996-099F-A63F-A74A-2367E5BDA414}"/>
              </a:ext>
            </a:extLst>
          </p:cNvPr>
          <p:cNvSpPr>
            <a:spLocks noGrp="1"/>
          </p:cNvSpPr>
          <p:nvPr>
            <p:ph type="title"/>
          </p:nvPr>
        </p:nvSpPr>
        <p:spPr/>
        <p:txBody>
          <a:bodyPr/>
          <a:lstStyle/>
          <a:p>
            <a:r>
              <a:rPr lang="en-US"/>
              <a:t>Manual Process vs. Automated Workflow</a:t>
            </a:r>
          </a:p>
        </p:txBody>
      </p:sp>
      <p:sp>
        <p:nvSpPr>
          <p:cNvPr id="3" name="Content Placeholder 2">
            <a:extLst>
              <a:ext uri="{FF2B5EF4-FFF2-40B4-BE49-F238E27FC236}">
                <a16:creationId xmlns:a16="http://schemas.microsoft.com/office/drawing/2014/main" id="{4454D47B-ECAD-EC96-AB7D-650BD30634F7}"/>
              </a:ext>
            </a:extLst>
          </p:cNvPr>
          <p:cNvSpPr>
            <a:spLocks noGrp="1"/>
          </p:cNvSpPr>
          <p:nvPr>
            <p:ph sz="half" idx="1"/>
          </p:nvPr>
        </p:nvSpPr>
        <p:spPr/>
        <p:txBody>
          <a:bodyPr>
            <a:normAutofit/>
          </a:bodyPr>
          <a:lstStyle/>
          <a:p>
            <a:r>
              <a:rPr lang="en-US" sz="1600"/>
              <a:t>MANUAL PROCESS
Emails get missed in busy inboxes
Data re-keyed by hand between apps
Approvals stall and get forgotten
No audit trail of what happened
Slow, inconsistent, hard to scale</a:t>
            </a:r>
          </a:p>
        </p:txBody>
      </p:sp>
      <p:sp>
        <p:nvSpPr>
          <p:cNvPr id="4" name="Content Placeholder 3">
            <a:extLst>
              <a:ext uri="{FF2B5EF4-FFF2-40B4-BE49-F238E27FC236}">
                <a16:creationId xmlns:a16="http://schemas.microsoft.com/office/drawing/2014/main" id="{B5836758-6433-6420-CC9D-069C47E7EDF1}"/>
              </a:ext>
            </a:extLst>
          </p:cNvPr>
          <p:cNvSpPr>
            <a:spLocks noGrp="1"/>
          </p:cNvSpPr>
          <p:nvPr>
            <p:ph sz="half" idx="2"/>
          </p:nvPr>
        </p:nvSpPr>
        <p:spPr/>
        <p:txBody>
          <a:bodyPr>
            <a:normAutofit/>
          </a:bodyPr>
          <a:lstStyle/>
          <a:p>
            <a:r>
              <a:rPr lang="en-US" sz="1600"/>
              <a:t>AUTOMATED WORKFLOW
Triggers fire the moment an event happens
Data flows automatically between systems
Approvals routed, tracked and reminded
Every action logged automatically
Fast, consistent and scalable</a:t>
            </a:r>
          </a:p>
        </p:txBody>
      </p:sp>
    </p:spTree>
    <p:extLst>
      <p:ext uri="{BB962C8B-B14F-4D97-AF65-F5344CB8AC3E}">
        <p14:creationId xmlns:p14="http://schemas.microsoft.com/office/powerpoint/2010/main" val="2049180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46ACF2-F7B9-6EC5-86D6-A463E0ED5B93}"/>
              </a:ext>
            </a:extLst>
          </p:cNvPr>
          <p:cNvSpPr>
            <a:spLocks noGrp="1"/>
          </p:cNvSpPr>
          <p:nvPr>
            <p:ph type="title"/>
          </p:nvPr>
        </p:nvSpPr>
        <p:spPr/>
        <p:txBody>
          <a:bodyPr/>
          <a:lstStyle/>
          <a:p>
            <a:r>
              <a:rPr lang="en-US"/>
              <a:t>Standalone Agents vs. Integrated Workflows</a:t>
            </a:r>
          </a:p>
        </p:txBody>
      </p:sp>
      <p:sp>
        <p:nvSpPr>
          <p:cNvPr id="3" name="Content Placeholder 2">
            <a:extLst>
              <a:ext uri="{FF2B5EF4-FFF2-40B4-BE49-F238E27FC236}">
                <a16:creationId xmlns:a16="http://schemas.microsoft.com/office/drawing/2014/main" id="{6B1AEA7C-120B-0804-FE0F-3D8CA177094D}"/>
              </a:ext>
            </a:extLst>
          </p:cNvPr>
          <p:cNvSpPr>
            <a:spLocks noGrp="1"/>
          </p:cNvSpPr>
          <p:nvPr>
            <p:ph sz="half" idx="1"/>
          </p:nvPr>
        </p:nvSpPr>
        <p:spPr/>
        <p:txBody>
          <a:bodyPr>
            <a:normAutofit/>
          </a:bodyPr>
          <a:lstStyle/>
          <a:p>
            <a:r>
              <a:rPr lang="en-US" sz="1600"/>
              <a:t>STANDALONE AGENT
Answers questions and chats
Works inside the conversation
Output stays in the chat
Great for information and guidance</a:t>
            </a:r>
          </a:p>
        </p:txBody>
      </p:sp>
      <p:sp>
        <p:nvSpPr>
          <p:cNvPr id="4" name="Content Placeholder 3">
            <a:extLst>
              <a:ext uri="{FF2B5EF4-FFF2-40B4-BE49-F238E27FC236}">
                <a16:creationId xmlns:a16="http://schemas.microsoft.com/office/drawing/2014/main" id="{2302A468-D28E-4FEC-2561-AB5670A725FB}"/>
              </a:ext>
            </a:extLst>
          </p:cNvPr>
          <p:cNvSpPr>
            <a:spLocks noGrp="1"/>
          </p:cNvSpPr>
          <p:nvPr>
            <p:ph sz="half" idx="2"/>
          </p:nvPr>
        </p:nvSpPr>
        <p:spPr/>
        <p:txBody>
          <a:bodyPr>
            <a:normAutofit/>
          </a:bodyPr>
          <a:lstStyle/>
          <a:p>
            <a:r>
              <a:rPr lang="en-US" sz="1600"/>
              <a:t>INTEGRATED WORKFLOW
Takes action across systems
Connects apps, data and people
Produces results: records, emails, approvals
Great for getting work done</a:t>
            </a:r>
          </a:p>
        </p:txBody>
      </p:sp>
    </p:spTree>
    <p:extLst>
      <p:ext uri="{BB962C8B-B14F-4D97-AF65-F5344CB8AC3E}">
        <p14:creationId xmlns:p14="http://schemas.microsoft.com/office/powerpoint/2010/main" val="3493130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64F88D-F673-E1DB-E9EE-25DAFE4EA13D}"/>
              </a:ext>
            </a:extLst>
          </p:cNvPr>
          <p:cNvSpPr>
            <a:spLocks noGrp="1"/>
          </p:cNvSpPr>
          <p:nvPr>
            <p:ph type="title"/>
          </p:nvPr>
        </p:nvSpPr>
        <p:spPr/>
        <p:txBody>
          <a:bodyPr/>
          <a:lstStyle/>
          <a:p>
            <a:r>
              <a:rPr lang="en-US"/>
              <a:t>Introduction to Workflow Logic</a:t>
            </a:r>
          </a:p>
        </p:txBody>
      </p:sp>
      <p:sp>
        <p:nvSpPr>
          <p:cNvPr id="3" name="Content Placeholder 2">
            <a:extLst>
              <a:ext uri="{FF2B5EF4-FFF2-40B4-BE49-F238E27FC236}">
                <a16:creationId xmlns:a16="http://schemas.microsoft.com/office/drawing/2014/main" id="{C75CB5EF-92B8-923C-4790-26F6F20957E1}"/>
              </a:ext>
            </a:extLst>
          </p:cNvPr>
          <p:cNvSpPr>
            <a:spLocks noGrp="1"/>
          </p:cNvSpPr>
          <p:nvPr>
            <p:ph idx="1"/>
          </p:nvPr>
        </p:nvSpPr>
        <p:spPr/>
        <p:txBody>
          <a:bodyPr>
            <a:normAutofit/>
          </a:bodyPr>
          <a:lstStyle/>
          <a:p>
            <a:r>
              <a:rPr lang="en-US" sz="1800"/>
              <a:t>Every workflow follows the same simple pattern
Trigger  →  Action(s)  →  Output
Trigger: the event that starts the workflow
Actions: the steps the workflow performs
Output: the result the workflow produces
Master this pattern and you can build any automation</a:t>
            </a:r>
          </a:p>
        </p:txBody>
      </p:sp>
    </p:spTree>
    <p:extLst>
      <p:ext uri="{BB962C8B-B14F-4D97-AF65-F5344CB8AC3E}">
        <p14:creationId xmlns:p14="http://schemas.microsoft.com/office/powerpoint/2010/main" val="11824928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0F331-4A42-F3D5-0628-943F85E104AA}"/>
              </a:ext>
            </a:extLst>
          </p:cNvPr>
          <p:cNvSpPr>
            <a:spLocks noGrp="1"/>
          </p:cNvSpPr>
          <p:nvPr>
            <p:ph type="title"/>
          </p:nvPr>
        </p:nvSpPr>
        <p:spPr/>
        <p:txBody>
          <a:bodyPr/>
          <a:lstStyle/>
          <a:p>
            <a:r>
              <a:rPr lang="en-US"/>
              <a:t>Triggers — What Starts a Workflow</a:t>
            </a:r>
          </a:p>
        </p:txBody>
      </p:sp>
      <p:sp>
        <p:nvSpPr>
          <p:cNvPr id="3" name="Content Placeholder 2">
            <a:extLst>
              <a:ext uri="{FF2B5EF4-FFF2-40B4-BE49-F238E27FC236}">
                <a16:creationId xmlns:a16="http://schemas.microsoft.com/office/drawing/2014/main" id="{819B3DA3-92C5-0BD0-5FEE-74A320A37333}"/>
              </a:ext>
            </a:extLst>
          </p:cNvPr>
          <p:cNvSpPr>
            <a:spLocks noGrp="1"/>
          </p:cNvSpPr>
          <p:nvPr>
            <p:ph idx="1"/>
          </p:nvPr>
        </p:nvSpPr>
        <p:spPr/>
        <p:txBody>
          <a:bodyPr>
            <a:normAutofit/>
          </a:bodyPr>
          <a:lstStyle/>
          <a:p>
            <a:r>
              <a:rPr lang="en-US" sz="1800"/>
              <a:t>A trigger is the event that kicks the workflow off
Examples: an email arrives, a file is uploaded, a form is submitted, a schedule hits
Every flow has exactly one trigger — its starting gun
The trigger carries data into the flow: sender, subject, file name, form answers
Choose the trigger that matches the business event you want to react to</a:t>
            </a:r>
          </a:p>
        </p:txBody>
      </p:sp>
    </p:spTree>
    <p:extLst>
      <p:ext uri="{BB962C8B-B14F-4D97-AF65-F5344CB8AC3E}">
        <p14:creationId xmlns:p14="http://schemas.microsoft.com/office/powerpoint/2010/main" val="195361747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AEDB2D-89B0-1B2C-ACE9-2277349D11F3}"/>
              </a:ext>
            </a:extLst>
          </p:cNvPr>
          <p:cNvSpPr>
            <a:spLocks noGrp="1"/>
          </p:cNvSpPr>
          <p:nvPr>
            <p:ph type="title"/>
          </p:nvPr>
        </p:nvSpPr>
        <p:spPr/>
        <p:txBody>
          <a:bodyPr/>
          <a:lstStyle/>
          <a:p>
            <a:r>
              <a:rPr lang="en-US"/>
              <a:t>Actions — What the Workflow Does</a:t>
            </a:r>
          </a:p>
        </p:txBody>
      </p:sp>
      <p:sp>
        <p:nvSpPr>
          <p:cNvPr id="3" name="Content Placeholder 2">
            <a:extLst>
              <a:ext uri="{FF2B5EF4-FFF2-40B4-BE49-F238E27FC236}">
                <a16:creationId xmlns:a16="http://schemas.microsoft.com/office/drawing/2014/main" id="{BD57A4F1-44A4-D473-24BF-A849AE79A8D6}"/>
              </a:ext>
            </a:extLst>
          </p:cNvPr>
          <p:cNvSpPr>
            <a:spLocks noGrp="1"/>
          </p:cNvSpPr>
          <p:nvPr>
            <p:ph idx="1"/>
          </p:nvPr>
        </p:nvSpPr>
        <p:spPr/>
        <p:txBody>
          <a:bodyPr>
            <a:normAutofit/>
          </a:bodyPr>
          <a:lstStyle/>
          <a:p>
            <a:r>
              <a:rPr lang="en-US" sz="1800"/>
              <a:t>Actions are the steps performed after the trigger fires
Examples: send an email, add a row to Excel, post a notification, request an approval
They run in sequence — each step can reuse data from earlier steps
Combine many actions to model a complete business process
Add conditions to decide which actions run</a:t>
            </a:r>
          </a:p>
        </p:txBody>
      </p:sp>
    </p:spTree>
    <p:extLst>
      <p:ext uri="{BB962C8B-B14F-4D97-AF65-F5344CB8AC3E}">
        <p14:creationId xmlns:p14="http://schemas.microsoft.com/office/powerpoint/2010/main" val="13951636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4C3A54-8BD4-AE75-24F5-9FBD6374132A}"/>
              </a:ext>
            </a:extLst>
          </p:cNvPr>
          <p:cNvSpPr>
            <a:spLocks noGrp="1"/>
          </p:cNvSpPr>
          <p:nvPr>
            <p:ph type="title"/>
          </p:nvPr>
        </p:nvSpPr>
        <p:spPr/>
        <p:txBody>
          <a:bodyPr/>
          <a:lstStyle/>
          <a:p>
            <a:r>
              <a:rPr lang="en-US"/>
              <a:t>Outputs — The Result</a:t>
            </a:r>
          </a:p>
        </p:txBody>
      </p:sp>
      <p:sp>
        <p:nvSpPr>
          <p:cNvPr id="3" name="Content Placeholder 2">
            <a:extLst>
              <a:ext uri="{FF2B5EF4-FFF2-40B4-BE49-F238E27FC236}">
                <a16:creationId xmlns:a16="http://schemas.microsoft.com/office/drawing/2014/main" id="{43F00432-FAAE-9E5E-4F82-97D23D8A3C93}"/>
              </a:ext>
            </a:extLst>
          </p:cNvPr>
          <p:cNvSpPr>
            <a:spLocks noGrp="1"/>
          </p:cNvSpPr>
          <p:nvPr>
            <p:ph idx="1"/>
          </p:nvPr>
        </p:nvSpPr>
        <p:spPr/>
        <p:txBody>
          <a:bodyPr>
            <a:normAutofit/>
          </a:bodyPr>
          <a:lstStyle/>
          <a:p>
            <a:r>
              <a:rPr lang="en-US" sz="1800"/>
              <a:t>The output is the outcome the workflow produces
A logged record, a sent email, an approval decision, a notification
Outputs can become the input to the next workflow
Judge success by the output: did the right thing happen, reliably?</a:t>
            </a:r>
          </a:p>
        </p:txBody>
      </p:sp>
    </p:spTree>
    <p:extLst>
      <p:ext uri="{BB962C8B-B14F-4D97-AF65-F5344CB8AC3E}">
        <p14:creationId xmlns:p14="http://schemas.microsoft.com/office/powerpoint/2010/main" val="9639115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DC3E9F-EC95-59F9-94BE-7A540B7966C4}"/>
              </a:ext>
            </a:extLst>
          </p:cNvPr>
          <p:cNvSpPr>
            <a:spLocks noGrp="1"/>
          </p:cNvSpPr>
          <p:nvPr>
            <p:ph type="title"/>
          </p:nvPr>
        </p:nvSpPr>
        <p:spPr/>
        <p:txBody>
          <a:bodyPr/>
          <a:lstStyle/>
          <a:p>
            <a:r>
              <a:rPr lang="en-US"/>
              <a:t>Workflow Steps — Putting It Together</a:t>
            </a:r>
          </a:p>
        </p:txBody>
      </p:sp>
      <p:sp>
        <p:nvSpPr>
          <p:cNvPr id="3" name="Content Placeholder 2">
            <a:extLst>
              <a:ext uri="{FF2B5EF4-FFF2-40B4-BE49-F238E27FC236}">
                <a16:creationId xmlns:a16="http://schemas.microsoft.com/office/drawing/2014/main" id="{049EEBD4-D4C5-A489-F8A8-0764E783E1B4}"/>
              </a:ext>
            </a:extLst>
          </p:cNvPr>
          <p:cNvSpPr>
            <a:spLocks noGrp="1"/>
          </p:cNvSpPr>
          <p:nvPr>
            <p:ph idx="1"/>
          </p:nvPr>
        </p:nvSpPr>
        <p:spPr/>
        <p:txBody>
          <a:bodyPr>
            <a:normAutofit/>
          </a:bodyPr>
          <a:lstStyle/>
          <a:p>
            <a:r>
              <a:rPr lang="en-US" sz="1800"/>
              <a:t>Steps run top-to-bottom after the trigger
Add conditions (if / then) to branch the logic
Pass data between steps using dynamic content
Example: New email → read the details → log to Excel → notify the team
Build complexity gradually — start simple, then extend</a:t>
            </a:r>
          </a:p>
        </p:txBody>
      </p:sp>
    </p:spTree>
    <p:extLst>
      <p:ext uri="{BB962C8B-B14F-4D97-AF65-F5344CB8AC3E}">
        <p14:creationId xmlns:p14="http://schemas.microsoft.com/office/powerpoint/2010/main" val="365956691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DA0CFB-104D-C8CF-C46D-D31E12710B22}"/>
              </a:ext>
            </a:extLst>
          </p:cNvPr>
          <p:cNvSpPr>
            <a:spLocks noGrp="1"/>
          </p:cNvSpPr>
          <p:nvPr>
            <p:ph type="title"/>
          </p:nvPr>
        </p:nvSpPr>
        <p:spPr/>
        <p:txBody>
          <a:bodyPr/>
          <a:lstStyle/>
          <a:p>
            <a:r>
              <a:rPr lang="en-US"/>
              <a:t>Anatomy of a Workflow</a:t>
            </a:r>
          </a:p>
        </p:txBody>
      </p:sp>
      <p:sp>
        <p:nvSpPr>
          <p:cNvPr id="3" name="Rounded Rectangle 2">
            <a:extLst>
              <a:ext uri="{FF2B5EF4-FFF2-40B4-BE49-F238E27FC236}">
                <a16:creationId xmlns:a16="http://schemas.microsoft.com/office/drawing/2014/main" id="{4B092ECF-C0C7-1B42-8481-5D2BED0FDB03}"/>
              </a:ext>
            </a:extLst>
          </p:cNvPr>
          <p:cNvSpPr/>
          <p:nvPr/>
        </p:nvSpPr>
        <p:spPr>
          <a:xfrm>
            <a:off x="393700" y="2452688"/>
            <a:ext cx="2413000" cy="1905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TRIGGER
An event starts the flow
e.g. email received</a:t>
            </a:r>
          </a:p>
        </p:txBody>
      </p:sp>
      <p:sp>
        <p:nvSpPr>
          <p:cNvPr id="4" name="Right Arrow 3">
            <a:extLst>
              <a:ext uri="{FF2B5EF4-FFF2-40B4-BE49-F238E27FC236}">
                <a16:creationId xmlns:a16="http://schemas.microsoft.com/office/drawing/2014/main" id="{EA8473DE-6B35-F343-9218-9C17CE75B707}"/>
              </a:ext>
            </a:extLst>
          </p:cNvPr>
          <p:cNvSpPr/>
          <p:nvPr/>
        </p:nvSpPr>
        <p:spPr>
          <a:xfrm>
            <a:off x="28829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5" name="Rounded Rectangle 4">
            <a:extLst>
              <a:ext uri="{FF2B5EF4-FFF2-40B4-BE49-F238E27FC236}">
                <a16:creationId xmlns:a16="http://schemas.microsoft.com/office/drawing/2014/main" id="{B460B88B-199E-1A48-A318-542AA1C3EC6D}"/>
              </a:ext>
            </a:extLst>
          </p:cNvPr>
          <p:cNvSpPr/>
          <p:nvPr/>
        </p:nvSpPr>
        <p:spPr>
          <a:xfrm>
            <a:off x="3390900" y="2452688"/>
            <a:ext cx="2413000" cy="1905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ACTION
Read &amp; process the data
e.g. extract details</a:t>
            </a:r>
          </a:p>
        </p:txBody>
      </p:sp>
      <p:sp>
        <p:nvSpPr>
          <p:cNvPr id="6" name="Right Arrow 5">
            <a:extLst>
              <a:ext uri="{FF2B5EF4-FFF2-40B4-BE49-F238E27FC236}">
                <a16:creationId xmlns:a16="http://schemas.microsoft.com/office/drawing/2014/main" id="{F908B3DF-5D35-364C-8CED-F909D084D7F9}"/>
              </a:ext>
            </a:extLst>
          </p:cNvPr>
          <p:cNvSpPr/>
          <p:nvPr/>
        </p:nvSpPr>
        <p:spPr>
          <a:xfrm>
            <a:off x="58801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7" name="Rounded Rectangle 6">
            <a:extLst>
              <a:ext uri="{FF2B5EF4-FFF2-40B4-BE49-F238E27FC236}">
                <a16:creationId xmlns:a16="http://schemas.microsoft.com/office/drawing/2014/main" id="{66076C38-02F5-604B-897F-65600F8C97FE}"/>
              </a:ext>
            </a:extLst>
          </p:cNvPr>
          <p:cNvSpPr/>
          <p:nvPr/>
        </p:nvSpPr>
        <p:spPr>
          <a:xfrm>
            <a:off x="6388100" y="2452688"/>
            <a:ext cx="2413000" cy="1905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ACTION
Do the work
e.g. log to Excel</a:t>
            </a:r>
          </a:p>
        </p:txBody>
      </p:sp>
      <p:sp>
        <p:nvSpPr>
          <p:cNvPr id="8" name="Right Arrow 7">
            <a:extLst>
              <a:ext uri="{FF2B5EF4-FFF2-40B4-BE49-F238E27FC236}">
                <a16:creationId xmlns:a16="http://schemas.microsoft.com/office/drawing/2014/main" id="{7B7A2EAC-EB2C-A945-9BA3-1F7668C50739}"/>
              </a:ext>
            </a:extLst>
          </p:cNvPr>
          <p:cNvSpPr/>
          <p:nvPr/>
        </p:nvSpPr>
        <p:spPr>
          <a:xfrm>
            <a:off x="8877300" y="3240088"/>
            <a:ext cx="431800" cy="3302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FD3ECA41-144E-4E46-A992-1B89DFCCB155}"/>
              </a:ext>
            </a:extLst>
          </p:cNvPr>
          <p:cNvSpPr/>
          <p:nvPr/>
        </p:nvSpPr>
        <p:spPr>
          <a:xfrm>
            <a:off x="9385300" y="2452688"/>
            <a:ext cx="2413000" cy="1905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400">
                <a:solidFill>
                  <a:srgbClr val="FFFFFF"/>
                </a:solidFill>
              </a:rPr>
              <a:t>OUTPUT
Deliver the result
e.g. notify the team</a:t>
            </a:r>
          </a:p>
        </p:txBody>
      </p:sp>
      <p:sp>
        <p:nvSpPr>
          <p:cNvPr id="10" name="TextBox 9">
            <a:extLst>
              <a:ext uri="{FF2B5EF4-FFF2-40B4-BE49-F238E27FC236}">
                <a16:creationId xmlns:a16="http://schemas.microsoft.com/office/drawing/2014/main" id="{C88F9FAD-DC25-C64B-B444-1F5A35680758}"/>
              </a:ext>
            </a:extLst>
          </p:cNvPr>
          <p:cNvSpPr txBox="1"/>
          <p:nvPr/>
        </p:nvSpPr>
        <p:spPr>
          <a:xfrm>
            <a:off x="393700" y="4789488"/>
            <a:ext cx="11404600" cy="508000"/>
          </a:xfrm>
          <a:prstGeom prst="rect">
            <a:avLst/>
          </a:prstGeom>
          <a:noFill/>
        </p:spPr>
        <p:txBody>
          <a:bodyPr vertOverflow="overflow" vert="horz" wrap="square" rtlCol="0" anchor="t">
            <a:spAutoFit/>
          </a:bodyPr>
          <a:lstStyle/>
          <a:p>
            <a:pPr algn="l"/>
            <a:r>
              <a:rPr lang="en-US" sz="1600" i="1">
                <a:solidFill>
                  <a:srgbClr val="2B2B40"/>
                </a:solidFill>
              </a:rPr>
              <a:t>Master this pattern — Trigger → Action(s) → Output — and you can build any automation.</a:t>
            </a:r>
          </a:p>
        </p:txBody>
      </p:sp>
    </p:spTree>
    <p:extLst>
      <p:ext uri="{BB962C8B-B14F-4D97-AF65-F5344CB8AC3E}">
        <p14:creationId xmlns:p14="http://schemas.microsoft.com/office/powerpoint/2010/main" val="38927265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C0AADC-2A14-2CA2-8FB5-1F1AAD46EA38}"/>
              </a:ext>
            </a:extLst>
          </p:cNvPr>
          <p:cNvSpPr>
            <a:spLocks noGrp="1"/>
          </p:cNvSpPr>
          <p:nvPr>
            <p:ph type="title"/>
          </p:nvPr>
        </p:nvSpPr>
        <p:spPr/>
        <p:txBody>
          <a:bodyPr/>
          <a:lstStyle/>
          <a:p>
            <a:r>
              <a:rPr lang="en-US"/>
              <a:t>Module 1 Recap</a:t>
            </a:r>
          </a:p>
        </p:txBody>
      </p:sp>
      <p:sp>
        <p:nvSpPr>
          <p:cNvPr id="3" name="Content Placeholder 2">
            <a:extLst>
              <a:ext uri="{FF2B5EF4-FFF2-40B4-BE49-F238E27FC236}">
                <a16:creationId xmlns:a16="http://schemas.microsoft.com/office/drawing/2014/main" id="{FA81A6F9-61C8-BA9D-CECD-CD8308DAA5FC}"/>
              </a:ext>
            </a:extLst>
          </p:cNvPr>
          <p:cNvSpPr>
            <a:spLocks noGrp="1"/>
          </p:cNvSpPr>
          <p:nvPr>
            <p:ph idx="1"/>
          </p:nvPr>
        </p:nvSpPr>
        <p:spPr/>
        <p:txBody>
          <a:bodyPr>
            <a:normAutofit/>
          </a:bodyPr>
          <a:lstStyle/>
          <a:p>
            <a:r>
              <a:rPr lang="en-US" sz="1800"/>
              <a:t>Automation runs repeatable work for you — saving time and cutting errors
Standalone agents inform; integrated workflows take action
Every workflow follows: Trigger → Actions → Output
Triggers start it, actions do the work, outputs deliver the result
Next: build real flows in Microsoft Power Automate</a:t>
            </a:r>
          </a:p>
        </p:txBody>
      </p:sp>
    </p:spTree>
    <p:extLst>
      <p:ext uri="{BB962C8B-B14F-4D97-AF65-F5344CB8AC3E}">
        <p14:creationId xmlns:p14="http://schemas.microsoft.com/office/powerpoint/2010/main" val="161137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5C49-60E9-4A7E-9BBE-B4A86CA5E178}"/>
              </a:ext>
            </a:extLst>
          </p:cNvPr>
          <p:cNvSpPr>
            <a:spLocks noGrp="1"/>
          </p:cNvSpPr>
          <p:nvPr>
            <p:ph type="title"/>
          </p:nvPr>
        </p:nvSpPr>
        <p:spPr/>
        <p:txBody>
          <a:bodyPr/>
          <a:lstStyle/>
          <a:p>
            <a:r>
              <a:rPr lang="en-US"/>
              <a:t>Module 2 · Introduction to Power Automate</a:t>
            </a:r>
          </a:p>
        </p:txBody>
      </p:sp>
      <p:sp>
        <p:nvSpPr>
          <p:cNvPr id="3" name="Text Placeholder 2">
            <a:extLst>
              <a:ext uri="{FF2B5EF4-FFF2-40B4-BE49-F238E27FC236}">
                <a16:creationId xmlns:a16="http://schemas.microsoft.com/office/drawing/2014/main" id="{35C67494-DB45-D7B6-BB5D-ACB9253AB3E1}"/>
              </a:ext>
            </a:extLst>
          </p:cNvPr>
          <p:cNvSpPr>
            <a:spLocks noGrp="1"/>
          </p:cNvSpPr>
          <p:nvPr>
            <p:ph type="body" idx="1"/>
          </p:nvPr>
        </p:nvSpPr>
        <p:spPr/>
        <p:txBody>
          <a:bodyPr>
            <a:normAutofit/>
          </a:bodyPr>
          <a:lstStyle/>
          <a:p>
            <a:r>
              <a:rPr lang="en-US" sz="1800" b="1">
                <a:solidFill>
                  <a:srgbClr val="7C3AED"/>
                </a:solidFill>
              </a:rPr>
              <a:t>Triggers, actions, and your first five working flows</a:t>
            </a:r>
          </a:p>
        </p:txBody>
      </p:sp>
    </p:spTree>
    <p:extLst>
      <p:ext uri="{BB962C8B-B14F-4D97-AF65-F5344CB8AC3E}">
        <p14:creationId xmlns:p14="http://schemas.microsoft.com/office/powerpoint/2010/main" val="34039718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2C6F1B-A19A-7BFA-7347-5DCFD6C7E10A}"/>
              </a:ext>
            </a:extLst>
          </p:cNvPr>
          <p:cNvSpPr>
            <a:spLocks noGrp="1"/>
          </p:cNvSpPr>
          <p:nvPr>
            <p:ph type="title"/>
          </p:nvPr>
        </p:nvSpPr>
        <p:spPr/>
        <p:txBody>
          <a:bodyPr/>
          <a:lstStyle/>
          <a:p>
            <a:r>
              <a:rPr lang="en-US"/>
              <a:t>Overview of Power Automate</a:t>
            </a:r>
          </a:p>
        </p:txBody>
      </p:sp>
      <p:sp>
        <p:nvSpPr>
          <p:cNvPr id="3" name="Content Placeholder 2">
            <a:extLst>
              <a:ext uri="{FF2B5EF4-FFF2-40B4-BE49-F238E27FC236}">
                <a16:creationId xmlns:a16="http://schemas.microsoft.com/office/drawing/2014/main" id="{FD29EA35-B271-A181-58DA-B4B41380BAF9}"/>
              </a:ext>
            </a:extLst>
          </p:cNvPr>
          <p:cNvSpPr>
            <a:spLocks noGrp="1"/>
          </p:cNvSpPr>
          <p:nvPr>
            <p:ph idx="1"/>
          </p:nvPr>
        </p:nvSpPr>
        <p:spPr/>
        <p:txBody>
          <a:bodyPr>
            <a:normAutofit/>
          </a:bodyPr>
          <a:lstStyle/>
          <a:p>
            <a:r>
              <a:rPr lang="en-US" sz="1800"/>
              <a:t>Microsoft's low-code tool for automating tasks and processes
Connects 1,000+ apps and services — Outlook, Excel, SharePoint, Teams, Forms and more
Build flows visually: pick a trigger, add actions, done
Runs in the cloud — no servers, no code to maintain
Part of Microsoft 365 and the Power Platform</a:t>
            </a:r>
          </a:p>
        </p:txBody>
      </p:sp>
    </p:spTree>
    <p:extLst>
      <p:ext uri="{BB962C8B-B14F-4D97-AF65-F5344CB8AC3E}">
        <p14:creationId xmlns:p14="http://schemas.microsoft.com/office/powerpoint/2010/main" val="41199773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513AF4-ABBF-44C9-36C0-E7FAF3EE46F6}"/>
              </a:ext>
            </a:extLst>
          </p:cNvPr>
          <p:cNvSpPr>
            <a:spLocks noGrp="1"/>
          </p:cNvSpPr>
          <p:nvPr>
            <p:ph type="title"/>
          </p:nvPr>
        </p:nvSpPr>
        <p:spPr/>
        <p:txBody>
          <a:bodyPr/>
          <a:lstStyle/>
          <a:p>
            <a:r>
              <a:rPr lang="en-US"/>
              <a:t>Types of Flow</a:t>
            </a:r>
          </a:p>
        </p:txBody>
      </p:sp>
      <p:sp>
        <p:nvSpPr>
          <p:cNvPr id="3" name="Content Placeholder 2">
            <a:extLst>
              <a:ext uri="{FF2B5EF4-FFF2-40B4-BE49-F238E27FC236}">
                <a16:creationId xmlns:a16="http://schemas.microsoft.com/office/drawing/2014/main" id="{6CC9141F-854E-F2D7-0BB1-14EB46B5741C}"/>
              </a:ext>
            </a:extLst>
          </p:cNvPr>
          <p:cNvSpPr>
            <a:spLocks noGrp="1"/>
          </p:cNvSpPr>
          <p:nvPr>
            <p:ph idx="1"/>
          </p:nvPr>
        </p:nvSpPr>
        <p:spPr/>
        <p:txBody>
          <a:bodyPr>
            <a:normAutofit/>
          </a:bodyPr>
          <a:lstStyle/>
          <a:p>
            <a:r>
              <a:rPr lang="en-US" sz="1800"/>
              <a:t>Automated — starts when an event happens (email arrives, file added)
Instant — you start it on demand with a button
Scheduled — runs on a timer (daily, hourly, weekly)
This course focuses on automated flows triggered by business events
All are built in the same visual flow designer</a:t>
            </a:r>
          </a:p>
        </p:txBody>
      </p:sp>
    </p:spTree>
    <p:extLst>
      <p:ext uri="{BB962C8B-B14F-4D97-AF65-F5344CB8AC3E}">
        <p14:creationId xmlns:p14="http://schemas.microsoft.com/office/powerpoint/2010/main" val="397622769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E24B13-8E5D-ADE6-A6B6-7865D9400CFB}"/>
              </a:ext>
            </a:extLst>
          </p:cNvPr>
          <p:cNvSpPr>
            <a:spLocks noGrp="1"/>
          </p:cNvSpPr>
          <p:nvPr>
            <p:ph type="title"/>
          </p:nvPr>
        </p:nvSpPr>
        <p:spPr/>
        <p:txBody>
          <a:bodyPr/>
          <a:lstStyle/>
          <a:p>
            <a:r>
              <a:rPr lang="en-US"/>
              <a:t>The Maker Experience</a:t>
            </a:r>
          </a:p>
        </p:txBody>
      </p:sp>
      <p:sp>
        <p:nvSpPr>
          <p:cNvPr id="3" name="Content Placeholder 2">
            <a:extLst>
              <a:ext uri="{FF2B5EF4-FFF2-40B4-BE49-F238E27FC236}">
                <a16:creationId xmlns:a16="http://schemas.microsoft.com/office/drawing/2014/main" id="{49FBECF1-7D30-BC1A-A071-A1BDBBB57A72}"/>
              </a:ext>
            </a:extLst>
          </p:cNvPr>
          <p:cNvSpPr>
            <a:spLocks noGrp="1"/>
          </p:cNvSpPr>
          <p:nvPr>
            <p:ph idx="1"/>
          </p:nvPr>
        </p:nvSpPr>
        <p:spPr/>
        <p:txBody>
          <a:bodyPr>
            <a:normAutofit/>
          </a:bodyPr>
          <a:lstStyle/>
          <a:p>
            <a:r>
              <a:rPr lang="en-US" sz="1800"/>
              <a:t>Build flows at make.powerautomate.com
Designer canvas: trigger at the top, actions added below
Search a connector, choose an action, fill in the fields
Insert dynamic content to pass data between steps
Test, then turn the flow on — it runs automatically from then on</a:t>
            </a:r>
          </a:p>
        </p:txBody>
      </p:sp>
    </p:spTree>
    <p:extLst>
      <p:ext uri="{BB962C8B-B14F-4D97-AF65-F5344CB8AC3E}">
        <p14:creationId xmlns:p14="http://schemas.microsoft.com/office/powerpoint/2010/main" val="13328222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5882FB-4F9D-CD24-BF71-41C32AB0087C}"/>
              </a:ext>
            </a:extLst>
          </p:cNvPr>
          <p:cNvSpPr>
            <a:spLocks noGrp="1"/>
          </p:cNvSpPr>
          <p:nvPr>
            <p:ph type="title"/>
          </p:nvPr>
        </p:nvSpPr>
        <p:spPr/>
        <p:txBody>
          <a:bodyPr/>
          <a:lstStyle/>
          <a:p>
            <a:r>
              <a:rPr lang="en-US"/>
              <a:t>Common Triggers</a:t>
            </a:r>
          </a:p>
        </p:txBody>
      </p:sp>
      <p:sp>
        <p:nvSpPr>
          <p:cNvPr id="3" name="Content Placeholder 2">
            <a:extLst>
              <a:ext uri="{FF2B5EF4-FFF2-40B4-BE49-F238E27FC236}">
                <a16:creationId xmlns:a16="http://schemas.microsoft.com/office/drawing/2014/main" id="{91B1CDCB-7BCB-871E-3B9F-3D4EC2E42B3B}"/>
              </a:ext>
            </a:extLst>
          </p:cNvPr>
          <p:cNvSpPr>
            <a:spLocks noGrp="1"/>
          </p:cNvSpPr>
          <p:nvPr>
            <p:ph idx="1"/>
          </p:nvPr>
        </p:nvSpPr>
        <p:spPr/>
        <p:txBody>
          <a:bodyPr>
            <a:normAutofit/>
          </a:bodyPr>
          <a:lstStyle/>
          <a:p>
            <a:r>
              <a:rPr lang="en-US" sz="1800"/>
              <a:t>A trigger is the event that starts your flow
Email received — react to incoming mail in Outlook
File upload — a new file lands in SharePoint or OneDrive
Form submission — someone responds to a Microsoft Form
Each trigger hands its data to the rest of the flow</a:t>
            </a:r>
          </a:p>
        </p:txBody>
      </p:sp>
    </p:spTree>
    <p:extLst>
      <p:ext uri="{BB962C8B-B14F-4D97-AF65-F5344CB8AC3E}">
        <p14:creationId xmlns:p14="http://schemas.microsoft.com/office/powerpoint/2010/main" val="2395582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0BE857-4548-8DC3-C414-305FEEFE4BF7}"/>
              </a:ext>
            </a:extLst>
          </p:cNvPr>
          <p:cNvSpPr>
            <a:spLocks noGrp="1"/>
          </p:cNvSpPr>
          <p:nvPr>
            <p:ph type="title"/>
          </p:nvPr>
        </p:nvSpPr>
        <p:spPr/>
        <p:txBody>
          <a:bodyPr/>
          <a:lstStyle/>
          <a:p>
            <a:r>
              <a:rPr lang="en-US"/>
              <a:t>Trigger: Email Received</a:t>
            </a:r>
          </a:p>
        </p:txBody>
      </p:sp>
      <p:sp>
        <p:nvSpPr>
          <p:cNvPr id="3" name="Content Placeholder 2">
            <a:extLst>
              <a:ext uri="{FF2B5EF4-FFF2-40B4-BE49-F238E27FC236}">
                <a16:creationId xmlns:a16="http://schemas.microsoft.com/office/drawing/2014/main" id="{B8865A9C-F97A-F0C3-7581-0BF1813E02BF}"/>
              </a:ext>
            </a:extLst>
          </p:cNvPr>
          <p:cNvSpPr>
            <a:spLocks noGrp="1"/>
          </p:cNvSpPr>
          <p:nvPr>
            <p:ph idx="1"/>
          </p:nvPr>
        </p:nvSpPr>
        <p:spPr/>
        <p:txBody>
          <a:bodyPr>
            <a:normAutofit/>
          </a:bodyPr>
          <a:lstStyle/>
          <a:p>
            <a:r>
              <a:rPr lang="en-US" sz="1800"/>
              <a:t>Starts a flow when a new email arrives in Outlook
Filter by sender, subject, folder or importance
Grabs the email's data: from, subject, body, attachments
Use it for: enquiries, requests, alerts and notifications
Lab example: a sales enquiry email kicks off logging and a reply</a:t>
            </a:r>
          </a:p>
        </p:txBody>
      </p:sp>
    </p:spTree>
    <p:extLst>
      <p:ext uri="{BB962C8B-B14F-4D97-AF65-F5344CB8AC3E}">
        <p14:creationId xmlns:p14="http://schemas.microsoft.com/office/powerpoint/2010/main" val="230456755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7E78C7-88E1-C652-FA30-FE14841BA4C0}"/>
              </a:ext>
            </a:extLst>
          </p:cNvPr>
          <p:cNvSpPr>
            <a:spLocks noGrp="1"/>
          </p:cNvSpPr>
          <p:nvPr>
            <p:ph type="title"/>
          </p:nvPr>
        </p:nvSpPr>
        <p:spPr/>
        <p:txBody>
          <a:bodyPr/>
          <a:lstStyle/>
          <a:p>
            <a:r>
              <a:rPr lang="en-US"/>
              <a:t>Trigger: File Upload</a:t>
            </a:r>
          </a:p>
        </p:txBody>
      </p:sp>
      <p:sp>
        <p:nvSpPr>
          <p:cNvPr id="3" name="Content Placeholder 2">
            <a:extLst>
              <a:ext uri="{FF2B5EF4-FFF2-40B4-BE49-F238E27FC236}">
                <a16:creationId xmlns:a16="http://schemas.microsoft.com/office/drawing/2014/main" id="{471CD090-E699-430C-A27D-59E512BC2E23}"/>
              </a:ext>
            </a:extLst>
          </p:cNvPr>
          <p:cNvSpPr>
            <a:spLocks noGrp="1"/>
          </p:cNvSpPr>
          <p:nvPr>
            <p:ph idx="1"/>
          </p:nvPr>
        </p:nvSpPr>
        <p:spPr/>
        <p:txBody>
          <a:bodyPr>
            <a:normAutofit/>
          </a:bodyPr>
          <a:lstStyle/>
          <a:p>
            <a:r>
              <a:rPr lang="en-US" sz="1800"/>
              <a:t>Starts a flow when a file is added to SharePoint or OneDrive
Watches a specific folder or document library
Captures the file name, content and metadata
Use it for: invoices, contracts, reports and submissions
Lab example: an uploaded invoice starts an approval workflow</a:t>
            </a:r>
          </a:p>
        </p:txBody>
      </p:sp>
    </p:spTree>
    <p:extLst>
      <p:ext uri="{BB962C8B-B14F-4D97-AF65-F5344CB8AC3E}">
        <p14:creationId xmlns:p14="http://schemas.microsoft.com/office/powerpoint/2010/main" val="211261712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E9103D-6F53-F7D6-BBDF-2F2B6DC6548E}"/>
              </a:ext>
            </a:extLst>
          </p:cNvPr>
          <p:cNvSpPr>
            <a:spLocks noGrp="1"/>
          </p:cNvSpPr>
          <p:nvPr>
            <p:ph type="title"/>
          </p:nvPr>
        </p:nvSpPr>
        <p:spPr/>
        <p:txBody>
          <a:bodyPr/>
          <a:lstStyle/>
          <a:p>
            <a:r>
              <a:rPr lang="en-US"/>
              <a:t>Trigger: Form Submission</a:t>
            </a:r>
          </a:p>
        </p:txBody>
      </p:sp>
      <p:sp>
        <p:nvSpPr>
          <p:cNvPr id="3" name="Content Placeholder 2">
            <a:extLst>
              <a:ext uri="{FF2B5EF4-FFF2-40B4-BE49-F238E27FC236}">
                <a16:creationId xmlns:a16="http://schemas.microsoft.com/office/drawing/2014/main" id="{65F01EC8-F18C-89BA-4B8A-B2F8B393CA20}"/>
              </a:ext>
            </a:extLst>
          </p:cNvPr>
          <p:cNvSpPr>
            <a:spLocks noGrp="1"/>
          </p:cNvSpPr>
          <p:nvPr>
            <p:ph idx="1"/>
          </p:nvPr>
        </p:nvSpPr>
        <p:spPr/>
        <p:txBody>
          <a:bodyPr>
            <a:normAutofit/>
          </a:bodyPr>
          <a:lstStyle/>
          <a:p>
            <a:r>
              <a:rPr lang="en-US" sz="1800"/>
              <a:t>Starts a flow when someone submits a Microsoft Form
Each answer becomes data you can use downstream
No inbox or folder to watch — the form is the front door
Use it for: requests, registrations, feedback and orders
Lab example: a purchase request form routes to a manager for approval</a:t>
            </a:r>
          </a:p>
        </p:txBody>
      </p:sp>
    </p:spTree>
    <p:extLst>
      <p:ext uri="{BB962C8B-B14F-4D97-AF65-F5344CB8AC3E}">
        <p14:creationId xmlns:p14="http://schemas.microsoft.com/office/powerpoint/2010/main" val="2148000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B74552-B483-2A9B-FEE7-48C42995A68E}"/>
              </a:ext>
            </a:extLst>
          </p:cNvPr>
          <p:cNvSpPr>
            <a:spLocks noGrp="1"/>
          </p:cNvSpPr>
          <p:nvPr>
            <p:ph type="title"/>
          </p:nvPr>
        </p:nvSpPr>
        <p:spPr/>
        <p:txBody>
          <a:bodyPr/>
          <a:lstStyle/>
          <a:p>
            <a:r>
              <a:rPr lang="en-US"/>
              <a:t>Creating Workflow Actions</a:t>
            </a:r>
          </a:p>
        </p:txBody>
      </p:sp>
      <p:sp>
        <p:nvSpPr>
          <p:cNvPr id="3" name="Content Placeholder 2">
            <a:extLst>
              <a:ext uri="{FF2B5EF4-FFF2-40B4-BE49-F238E27FC236}">
                <a16:creationId xmlns:a16="http://schemas.microsoft.com/office/drawing/2014/main" id="{95490472-9356-2685-DF9F-7FC86A93E4B9}"/>
              </a:ext>
            </a:extLst>
          </p:cNvPr>
          <p:cNvSpPr>
            <a:spLocks noGrp="1"/>
          </p:cNvSpPr>
          <p:nvPr>
            <p:ph idx="1"/>
          </p:nvPr>
        </p:nvSpPr>
        <p:spPr/>
        <p:txBody>
          <a:bodyPr>
            <a:normAutofit/>
          </a:bodyPr>
          <a:lstStyle/>
          <a:p>
            <a:r>
              <a:rPr lang="en-US" sz="1800"/>
              <a:t>After the trigger, add the steps that do the work
Search for a connector, then pick the action you need
Fill in the fields — type text or insert dynamic content
Stack actions in order; reorder by dragging
Three actions you'll use constantly: send email, add Excel row, request approval</a:t>
            </a:r>
          </a:p>
        </p:txBody>
      </p:sp>
    </p:spTree>
    <p:extLst>
      <p:ext uri="{BB962C8B-B14F-4D97-AF65-F5344CB8AC3E}">
        <p14:creationId xmlns:p14="http://schemas.microsoft.com/office/powerpoint/2010/main" val="1090452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6385E6-0B65-068D-5E4A-9F1011476414}"/>
              </a:ext>
            </a:extLst>
          </p:cNvPr>
          <p:cNvSpPr>
            <a:spLocks noGrp="1"/>
          </p:cNvSpPr>
          <p:nvPr>
            <p:ph type="title"/>
          </p:nvPr>
        </p:nvSpPr>
        <p:spPr/>
        <p:txBody>
          <a:bodyPr/>
          <a:lstStyle/>
          <a:p>
            <a:r>
              <a:rPr lang="en-US"/>
              <a:t>Action: Send Emails</a:t>
            </a:r>
          </a:p>
        </p:txBody>
      </p:sp>
      <p:sp>
        <p:nvSpPr>
          <p:cNvPr id="3" name="Content Placeholder 2">
            <a:extLst>
              <a:ext uri="{FF2B5EF4-FFF2-40B4-BE49-F238E27FC236}">
                <a16:creationId xmlns:a16="http://schemas.microsoft.com/office/drawing/2014/main" id="{64C07D69-E1B7-5B48-30BA-E3CCC9E41413}"/>
              </a:ext>
            </a:extLst>
          </p:cNvPr>
          <p:cNvSpPr>
            <a:spLocks noGrp="1"/>
          </p:cNvSpPr>
          <p:nvPr>
            <p:ph idx="1"/>
          </p:nvPr>
        </p:nvSpPr>
        <p:spPr/>
        <p:txBody>
          <a:bodyPr>
            <a:normAutofit/>
          </a:bodyPr>
          <a:lstStyle/>
          <a:p>
            <a:r>
              <a:rPr lang="en-US" sz="1800"/>
              <a:t>Sends an automated email from Outlook
Set the recipient, subject and body — any can be dynamic
Personalise with data from the trigger (sender name, request details)
Use for confirmations, notifications and auto-replies
Keeps everyone informed without anyone lifting a finger</a:t>
            </a:r>
          </a:p>
        </p:txBody>
      </p:sp>
    </p:spTree>
    <p:extLst>
      <p:ext uri="{BB962C8B-B14F-4D97-AF65-F5344CB8AC3E}">
        <p14:creationId xmlns:p14="http://schemas.microsoft.com/office/powerpoint/2010/main" val="12616571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DF21E5-EEDB-DE9A-806D-1A3FC8AF6D34}"/>
              </a:ext>
            </a:extLst>
          </p:cNvPr>
          <p:cNvSpPr>
            <a:spLocks noGrp="1"/>
          </p:cNvSpPr>
          <p:nvPr>
            <p:ph type="title"/>
          </p:nvPr>
        </p:nvSpPr>
        <p:spPr/>
        <p:txBody>
          <a:bodyPr/>
          <a:lstStyle/>
          <a:p>
            <a:r>
              <a:rPr lang="en-US"/>
              <a:t>Action: Create Excel Entries</a:t>
            </a:r>
          </a:p>
        </p:txBody>
      </p:sp>
      <p:sp>
        <p:nvSpPr>
          <p:cNvPr id="3" name="Content Placeholder 2">
            <a:extLst>
              <a:ext uri="{FF2B5EF4-FFF2-40B4-BE49-F238E27FC236}">
                <a16:creationId xmlns:a16="http://schemas.microsoft.com/office/drawing/2014/main" id="{A65D4574-1803-2C84-44CB-6C2CF7815454}"/>
              </a:ext>
            </a:extLst>
          </p:cNvPr>
          <p:cNvSpPr>
            <a:spLocks noGrp="1"/>
          </p:cNvSpPr>
          <p:nvPr>
            <p:ph idx="1"/>
          </p:nvPr>
        </p:nvSpPr>
        <p:spPr/>
        <p:txBody>
          <a:bodyPr>
            <a:normAutofit/>
          </a:bodyPr>
          <a:lstStyle/>
          <a:p>
            <a:r>
              <a:rPr lang="en-US" sz="1800"/>
              <a:t>Adds a new row to a table in an Excel workbook
Map each column to data from the flow
Builds a running log automatically — enquiries, requests, transactions
Stored in OneDrive or SharePoint, ready to filter and report on
Turns scattered events into a clean, structured record</a:t>
            </a:r>
          </a:p>
        </p:txBody>
      </p:sp>
    </p:spTree>
    <p:extLst>
      <p:ext uri="{BB962C8B-B14F-4D97-AF65-F5344CB8AC3E}">
        <p14:creationId xmlns:p14="http://schemas.microsoft.com/office/powerpoint/2010/main" val="5895502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3FA7B9-0EA7-76AD-04DA-09AA7C662F3D}"/>
              </a:ext>
            </a:extLst>
          </p:cNvPr>
          <p:cNvSpPr>
            <a:spLocks noGrp="1"/>
          </p:cNvSpPr>
          <p:nvPr>
            <p:ph type="title"/>
          </p:nvPr>
        </p:nvSpPr>
        <p:spPr/>
        <p:txBody>
          <a:bodyPr/>
          <a:lstStyle/>
          <a:p>
            <a:r>
              <a:rPr lang="en-US"/>
              <a:t>Action: Notifications &amp; Approvals</a:t>
            </a:r>
          </a:p>
        </p:txBody>
      </p:sp>
      <p:sp>
        <p:nvSpPr>
          <p:cNvPr id="3" name="Content Placeholder 2">
            <a:extLst>
              <a:ext uri="{FF2B5EF4-FFF2-40B4-BE49-F238E27FC236}">
                <a16:creationId xmlns:a16="http://schemas.microsoft.com/office/drawing/2014/main" id="{EAE9F905-8E8D-D676-96DF-2B37FA113F9B}"/>
              </a:ext>
            </a:extLst>
          </p:cNvPr>
          <p:cNvSpPr>
            <a:spLocks noGrp="1"/>
          </p:cNvSpPr>
          <p:nvPr>
            <p:ph idx="1"/>
          </p:nvPr>
        </p:nvSpPr>
        <p:spPr/>
        <p:txBody>
          <a:bodyPr>
            <a:normAutofit/>
          </a:bodyPr>
          <a:lstStyle/>
          <a:p>
            <a:r>
              <a:rPr lang="en-US" sz="1800"/>
              <a:t>Notifications: post to Teams or send an alert when something happens
Approvals: send a request and wait for Approve or Reject
The approver responds by email, Teams or the Power Automate app
The flow pauses, captures the decision, then continues accordingly
Perfect for sign-offs: invoices, purchases, leave and budgets</a:t>
            </a:r>
          </a:p>
        </p:txBody>
      </p:sp>
    </p:spTree>
    <p:extLst>
      <p:ext uri="{BB962C8B-B14F-4D97-AF65-F5344CB8AC3E}">
        <p14:creationId xmlns:p14="http://schemas.microsoft.com/office/powerpoint/2010/main" val="86240750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7F9D8-05FB-112C-8EFC-891A14DA8E29}"/>
              </a:ext>
            </a:extLst>
          </p:cNvPr>
          <p:cNvSpPr>
            <a:spLocks noGrp="1"/>
          </p:cNvSpPr>
          <p:nvPr>
            <p:ph type="title"/>
          </p:nvPr>
        </p:nvSpPr>
        <p:spPr/>
        <p:txBody>
          <a:bodyPr/>
          <a:lstStyle/>
          <a:p>
            <a:r>
              <a:rPr lang="en-US"/>
              <a:t>Connectors — Linking It All Together</a:t>
            </a:r>
          </a:p>
        </p:txBody>
      </p:sp>
      <p:sp>
        <p:nvSpPr>
          <p:cNvPr id="3" name="Content Placeholder 2">
            <a:extLst>
              <a:ext uri="{FF2B5EF4-FFF2-40B4-BE49-F238E27FC236}">
                <a16:creationId xmlns:a16="http://schemas.microsoft.com/office/drawing/2014/main" id="{47FAAAD5-8CBE-1D98-5E3A-FB46CC68AE38}"/>
              </a:ext>
            </a:extLst>
          </p:cNvPr>
          <p:cNvSpPr>
            <a:spLocks noGrp="1"/>
          </p:cNvSpPr>
          <p:nvPr>
            <p:ph idx="1"/>
          </p:nvPr>
        </p:nvSpPr>
        <p:spPr/>
        <p:txBody>
          <a:bodyPr>
            <a:normAutofit/>
          </a:bodyPr>
          <a:lstStyle/>
          <a:p>
            <a:r>
              <a:rPr lang="en-US" sz="1800"/>
              <a:t>A connector is the bridge to an app or service
Outlook, Excel, SharePoint, Teams, Forms, Approvals and 1,000+ more
Each connector offers its own triggers and actions
Sign in once; the flow uses your secure connection
Mix connectors freely to span your whole toolset</a:t>
            </a:r>
          </a:p>
        </p:txBody>
      </p:sp>
    </p:spTree>
    <p:extLst>
      <p:ext uri="{BB962C8B-B14F-4D97-AF65-F5344CB8AC3E}">
        <p14:creationId xmlns:p14="http://schemas.microsoft.com/office/powerpoint/2010/main" val="13488177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8482DA-07E7-21D1-8338-200DC16410A4}"/>
              </a:ext>
            </a:extLst>
          </p:cNvPr>
          <p:cNvSpPr>
            <a:spLocks noGrp="1"/>
          </p:cNvSpPr>
          <p:nvPr>
            <p:ph type="title"/>
          </p:nvPr>
        </p:nvSpPr>
        <p:spPr/>
        <p:txBody>
          <a:bodyPr/>
          <a:lstStyle/>
          <a:p>
            <a:r>
              <a:rPr lang="en-US"/>
              <a:t>Hands-On Labs · Power Automate</a:t>
            </a:r>
          </a:p>
        </p:txBody>
      </p:sp>
      <p:sp>
        <p:nvSpPr>
          <p:cNvPr id="3" name="Text Placeholder 2">
            <a:extLst>
              <a:ext uri="{FF2B5EF4-FFF2-40B4-BE49-F238E27FC236}">
                <a16:creationId xmlns:a16="http://schemas.microsoft.com/office/drawing/2014/main" id="{78C67DDD-3B12-C6A6-A6D6-C5EC9E5FC4A4}"/>
              </a:ext>
            </a:extLst>
          </p:cNvPr>
          <p:cNvSpPr>
            <a:spLocks noGrp="1"/>
          </p:cNvSpPr>
          <p:nvPr>
            <p:ph type="body" idx="1"/>
          </p:nvPr>
        </p:nvSpPr>
        <p:spPr/>
        <p:txBody>
          <a:bodyPr>
            <a:normAutofit/>
          </a:bodyPr>
          <a:lstStyle/>
          <a:p>
            <a:r>
              <a:rPr lang="en-US" sz="1800" b="1">
                <a:solidFill>
                  <a:srgbClr val="7C3AED"/>
                </a:solidFill>
              </a:rPr>
              <a:t>Build five working flows — email, Excel logging, approval, scheduled and form</a:t>
            </a:r>
          </a:p>
        </p:txBody>
      </p:sp>
    </p:spTree>
    <p:extLst>
      <p:ext uri="{BB962C8B-B14F-4D97-AF65-F5344CB8AC3E}">
        <p14:creationId xmlns:p14="http://schemas.microsoft.com/office/powerpoint/2010/main" val="280501552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06BEB5-409F-5D1F-5E71-EBA1E278DEBD}"/>
              </a:ext>
            </a:extLst>
          </p:cNvPr>
          <p:cNvSpPr>
            <a:spLocks noGrp="1"/>
          </p:cNvSpPr>
          <p:nvPr>
            <p:ph type="title"/>
          </p:nvPr>
        </p:nvSpPr>
        <p:spPr/>
        <p:txBody>
          <a:bodyPr/>
          <a:lstStyle/>
          <a:p>
            <a:r>
              <a:rPr lang="en-US"/>
              <a:t>Lab 1 — Automated Email Workflow</a:t>
            </a:r>
          </a:p>
        </p:txBody>
      </p:sp>
      <p:sp>
        <p:nvSpPr>
          <p:cNvPr id="3" name="Content Placeholder 2">
            <a:extLst>
              <a:ext uri="{FF2B5EF4-FFF2-40B4-BE49-F238E27FC236}">
                <a16:creationId xmlns:a16="http://schemas.microsoft.com/office/drawing/2014/main" id="{F7296010-13BD-E905-03CE-40DB79E0E007}"/>
              </a:ext>
            </a:extLst>
          </p:cNvPr>
          <p:cNvSpPr>
            <a:spLocks noGrp="1"/>
          </p:cNvSpPr>
          <p:nvPr>
            <p:ph sz="half" idx="1"/>
          </p:nvPr>
        </p:nvSpPr>
        <p:spPr/>
        <p:txBody>
          <a:bodyPr>
            <a:normAutofit/>
          </a:bodyPr>
          <a:lstStyle/>
          <a:p>
            <a:r>
              <a:rPr lang="en-US" sz="1600"/>
              <a:t>GOAL
Auto-reply to incoming sales enquiries
YOU'LL USE
Outlook trigger
Condition
Send an email action</a:t>
            </a:r>
          </a:p>
        </p:txBody>
      </p:sp>
      <p:sp>
        <p:nvSpPr>
          <p:cNvPr id="4" name="Content Placeholder 3">
            <a:extLst>
              <a:ext uri="{FF2B5EF4-FFF2-40B4-BE49-F238E27FC236}">
                <a16:creationId xmlns:a16="http://schemas.microsoft.com/office/drawing/2014/main" id="{D78C7F65-0841-6B92-14D3-DFEC0F3329BB}"/>
              </a:ext>
            </a:extLst>
          </p:cNvPr>
          <p:cNvSpPr>
            <a:spLocks noGrp="1"/>
          </p:cNvSpPr>
          <p:nvPr>
            <p:ph sz="half" idx="2"/>
          </p:nvPr>
        </p:nvSpPr>
        <p:spPr/>
        <p:txBody>
          <a:bodyPr>
            <a:normAutofit/>
          </a:bodyPr>
          <a:lstStyle/>
          <a:p>
            <a:r>
              <a:rPr lang="en-US" sz="1600"/>
              <a:t>STEPS
1.  Trigger: when a new email arrives
2.  Condition: subject contains ‘enquiry’
3.  Action: send a reply email
4.  Personalise with the sender’s name
5.  Turn it on and test it</a:t>
            </a:r>
          </a:p>
        </p:txBody>
      </p:sp>
    </p:spTree>
    <p:extLst>
      <p:ext uri="{BB962C8B-B14F-4D97-AF65-F5344CB8AC3E}">
        <p14:creationId xmlns:p14="http://schemas.microsoft.com/office/powerpoint/2010/main" val="35402146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1F1DAB-0399-0360-BFD3-F6CC9BAA2F47}"/>
              </a:ext>
            </a:extLst>
          </p:cNvPr>
          <p:cNvSpPr>
            <a:spLocks noGrp="1"/>
          </p:cNvSpPr>
          <p:nvPr>
            <p:ph type="title"/>
          </p:nvPr>
        </p:nvSpPr>
        <p:spPr/>
        <p:txBody>
          <a:bodyPr/>
          <a:lstStyle/>
          <a:p>
            <a:r>
              <a:rPr lang="en-US"/>
              <a:t>Lab 2 — Excel Data Logging Workflow</a:t>
            </a:r>
          </a:p>
        </p:txBody>
      </p:sp>
      <p:sp>
        <p:nvSpPr>
          <p:cNvPr id="3" name="Content Placeholder 2">
            <a:extLst>
              <a:ext uri="{FF2B5EF4-FFF2-40B4-BE49-F238E27FC236}">
                <a16:creationId xmlns:a16="http://schemas.microsoft.com/office/drawing/2014/main" id="{E3FB79A9-7D23-5518-7482-ACBB3763D77B}"/>
              </a:ext>
            </a:extLst>
          </p:cNvPr>
          <p:cNvSpPr>
            <a:spLocks noGrp="1"/>
          </p:cNvSpPr>
          <p:nvPr>
            <p:ph sz="half" idx="1"/>
          </p:nvPr>
        </p:nvSpPr>
        <p:spPr/>
        <p:txBody>
          <a:bodyPr>
            <a:normAutofit/>
          </a:bodyPr>
          <a:lstStyle/>
          <a:p>
            <a:r>
              <a:rPr lang="en-US" sz="1600"/>
              <a:t>GOAL
Log every enquiry to an Excel table
YOU'LL USE
Outlook trigger
Excel ‘Add a row’ action
An Excel table in OneDrive</a:t>
            </a:r>
          </a:p>
        </p:txBody>
      </p:sp>
      <p:sp>
        <p:nvSpPr>
          <p:cNvPr id="4" name="Content Placeholder 3">
            <a:extLst>
              <a:ext uri="{FF2B5EF4-FFF2-40B4-BE49-F238E27FC236}">
                <a16:creationId xmlns:a16="http://schemas.microsoft.com/office/drawing/2014/main" id="{7EE21604-4D42-D765-550C-19EC25355F0E}"/>
              </a:ext>
            </a:extLst>
          </p:cNvPr>
          <p:cNvSpPr>
            <a:spLocks noGrp="1"/>
          </p:cNvSpPr>
          <p:nvPr>
            <p:ph sz="half" idx="2"/>
          </p:nvPr>
        </p:nvSpPr>
        <p:spPr/>
        <p:txBody>
          <a:bodyPr>
            <a:normAutofit/>
          </a:bodyPr>
          <a:lstStyle/>
          <a:p>
            <a:r>
              <a:rPr lang="en-US" sz="1600"/>
              <a:t>STEPS
1.  Prepare an Excel table with columns
2.  Trigger: when a new email arrives
3.  Action: add a row to the table
4.  Map From, Subject, Received time
5.  Test and watch the log fill up</a:t>
            </a:r>
          </a:p>
        </p:txBody>
      </p:sp>
    </p:spTree>
    <p:extLst>
      <p:ext uri="{BB962C8B-B14F-4D97-AF65-F5344CB8AC3E}">
        <p14:creationId xmlns:p14="http://schemas.microsoft.com/office/powerpoint/2010/main" val="304217297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3 — Simple Approval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Route a request for Approve / Reject
YOU'LL USE
Form or email trigger
Start and wait for an approval
Send an email action</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Trigger: a request comes in
2.  Action: start and wait for approval
3.  Approver chooses Approve or Reject
4.  Condition: branch on the decision
5.  Email the outcome to the requester</a:t>
            </a:r>
          </a:p>
        </p:txBody>
      </p:sp>
    </p:spTree>
    <p:extLst>
      <p:ext uri="{BB962C8B-B14F-4D97-AF65-F5344CB8AC3E}">
        <p14:creationId xmlns:p14="http://schemas.microsoft.com/office/powerpoint/2010/main" val="58667548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91BDCB-B82E-8929-7B1E-4F1A1BE41B04}"/>
              </a:ext>
            </a:extLst>
          </p:cNvPr>
          <p:cNvSpPr>
            <a:spLocks noGrp="1"/>
          </p:cNvSpPr>
          <p:nvPr>
            <p:ph type="title"/>
          </p:nvPr>
        </p:nvSpPr>
        <p:spPr/>
        <p:txBody>
          <a:bodyPr/>
          <a:lstStyle/>
          <a:p>
            <a:r>
              <a:rPr lang="en-US"/>
              <a:t>Day 1 Recap</a:t>
            </a:r>
          </a:p>
        </p:txBody>
      </p:sp>
      <p:sp>
        <p:nvSpPr>
          <p:cNvPr id="3" name="Content Placeholder 2">
            <a:extLst>
              <a:ext uri="{FF2B5EF4-FFF2-40B4-BE49-F238E27FC236}">
                <a16:creationId xmlns:a16="http://schemas.microsoft.com/office/drawing/2014/main" id="{DE420688-BC85-68E9-EFEB-D3CE8557D411}"/>
              </a:ext>
            </a:extLst>
          </p:cNvPr>
          <p:cNvSpPr>
            <a:spLocks noGrp="1"/>
          </p:cNvSpPr>
          <p:nvPr>
            <p:ph idx="1"/>
          </p:nvPr>
        </p:nvSpPr>
        <p:spPr/>
        <p:txBody>
          <a:bodyPr>
            <a:normAutofit/>
          </a:bodyPr>
          <a:lstStyle/>
          <a:p>
            <a:r>
              <a:rPr lang="en-US" sz="1800"/>
              <a:t>You learned what workflow automation is and why it matters
Every flow = Trigger → Actions → Output
Power Automate connects your apps with low-code flows
You built five working flows: email, Excel logging, approval, scheduled and form
Tomorrow: build AI business agents in Copilot Studio</a:t>
            </a:r>
          </a:p>
        </p:txBody>
      </p:sp>
    </p:spTree>
    <p:extLst>
      <p:ext uri="{BB962C8B-B14F-4D97-AF65-F5344CB8AC3E}">
        <p14:creationId xmlns:p14="http://schemas.microsoft.com/office/powerpoint/2010/main" val="15264767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FCFDC1-8B82-A2EB-9EB2-396F7244D9E9}"/>
              </a:ext>
            </a:extLst>
          </p:cNvPr>
          <p:cNvSpPr>
            <a:spLocks noGrp="1"/>
          </p:cNvSpPr>
          <p:nvPr>
            <p:ph type="title"/>
          </p:nvPr>
        </p:nvSpPr>
        <p:spPr/>
        <p:txBody>
          <a:bodyPr/>
          <a:lstStyle/>
          <a:p>
            <a:r>
              <a:rPr lang="en-US"/>
              <a:t>Day 2 — Building Business Agents with Copilot Studio</a:t>
            </a:r>
          </a:p>
        </p:txBody>
      </p:sp>
      <p:sp>
        <p:nvSpPr>
          <p:cNvPr id="3" name="Text Placeholder 2">
            <a:extLst>
              <a:ext uri="{FF2B5EF4-FFF2-40B4-BE49-F238E27FC236}">
                <a16:creationId xmlns:a16="http://schemas.microsoft.com/office/drawing/2014/main" id="{45CD9A7C-6FAC-8D23-F8A9-0FBBFA344045}"/>
              </a:ext>
            </a:extLst>
          </p:cNvPr>
          <p:cNvSpPr>
            <a:spLocks noGrp="1"/>
          </p:cNvSpPr>
          <p:nvPr>
            <p:ph type="body" idx="1"/>
          </p:nvPr>
        </p:nvSpPr>
        <p:spPr/>
        <p:txBody>
          <a:bodyPr>
            <a:normAutofit/>
          </a:bodyPr>
          <a:lstStyle/>
          <a:p>
            <a:r>
              <a:rPr lang="en-US" sz="1800" b="1">
                <a:solidFill>
                  <a:srgbClr val="7C3AED"/>
                </a:solidFill>
              </a:rPr>
              <a:t>Module 3  ·  Create AI agents and connect them to your flows</a:t>
            </a:r>
          </a:p>
        </p:txBody>
      </p:sp>
    </p:spTree>
    <p:extLst>
      <p:ext uri="{BB962C8B-B14F-4D97-AF65-F5344CB8AC3E}">
        <p14:creationId xmlns:p14="http://schemas.microsoft.com/office/powerpoint/2010/main" val="202602072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B6704F-8AD0-B4B9-F225-46BD56532E68}"/>
              </a:ext>
            </a:extLst>
          </p:cNvPr>
          <p:cNvSpPr>
            <a:spLocks noGrp="1"/>
          </p:cNvSpPr>
          <p:nvPr>
            <p:ph type="title"/>
          </p:nvPr>
        </p:nvSpPr>
        <p:spPr/>
        <p:txBody>
          <a:bodyPr/>
          <a:lstStyle/>
          <a:p>
            <a:r>
              <a:rPr lang="en-US"/>
              <a:t>Day 2 Roadmap</a:t>
            </a:r>
          </a:p>
        </p:txBody>
      </p:sp>
      <p:sp>
        <p:nvSpPr>
          <p:cNvPr id="3" name="Content Placeholder 2">
            <a:extLst>
              <a:ext uri="{FF2B5EF4-FFF2-40B4-BE49-F238E27FC236}">
                <a16:creationId xmlns:a16="http://schemas.microsoft.com/office/drawing/2014/main" id="{9FCABE08-416B-F4B3-7431-E92AC5FC9F6D}"/>
              </a:ext>
            </a:extLst>
          </p:cNvPr>
          <p:cNvSpPr>
            <a:spLocks noGrp="1"/>
          </p:cNvSpPr>
          <p:nvPr>
            <p:ph idx="1"/>
          </p:nvPr>
        </p:nvSpPr>
        <p:spPr/>
        <p:txBody>
          <a:bodyPr>
            <a:normAutofit/>
          </a:bodyPr>
          <a:lstStyle/>
          <a:p>
            <a:r>
              <a:rPr lang="en-US" sz="1800"/>
              <a:t>Recap: yesterday you automated tasks with Power Automate
Today: add intelligence with AI agents in Copilot Studio
Learn to design agents that produce clean, structured output
Connect those agents to the flows you already know
Build six hands-on labs: create, knowledge, tools, then three agents</a:t>
            </a:r>
          </a:p>
        </p:txBody>
      </p:sp>
    </p:spTree>
    <p:extLst>
      <p:ext uri="{BB962C8B-B14F-4D97-AF65-F5344CB8AC3E}">
        <p14:creationId xmlns:p14="http://schemas.microsoft.com/office/powerpoint/2010/main" val="3815795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F1FFFC-3F9F-EF25-73C6-D53E4AD542B4}"/>
              </a:ext>
            </a:extLst>
          </p:cNvPr>
          <p:cNvSpPr>
            <a:spLocks noGrp="1"/>
          </p:cNvSpPr>
          <p:nvPr>
            <p:ph type="title"/>
          </p:nvPr>
        </p:nvSpPr>
        <p:spPr/>
        <p:txBody>
          <a:bodyPr/>
          <a:lstStyle/>
          <a:p>
            <a:r>
              <a:rPr lang="en-US"/>
              <a:t>Module 3 · Building Business Agents with Copilot Studio</a:t>
            </a:r>
          </a:p>
        </p:txBody>
      </p:sp>
      <p:sp>
        <p:nvSpPr>
          <p:cNvPr id="3" name="Text Placeholder 2">
            <a:extLst>
              <a:ext uri="{FF2B5EF4-FFF2-40B4-BE49-F238E27FC236}">
                <a16:creationId xmlns:a16="http://schemas.microsoft.com/office/drawing/2014/main" id="{8FEE78CB-30D6-CCDF-F84A-0B996FBF7A10}"/>
              </a:ext>
            </a:extLst>
          </p:cNvPr>
          <p:cNvSpPr>
            <a:spLocks noGrp="1"/>
          </p:cNvSpPr>
          <p:nvPr>
            <p:ph type="body" idx="1"/>
          </p:nvPr>
        </p:nvSpPr>
        <p:spPr/>
        <p:txBody>
          <a:bodyPr>
            <a:normAutofit/>
          </a:bodyPr>
          <a:lstStyle/>
          <a:p>
            <a:r>
              <a:rPr lang="en-US" sz="1800" b="1">
                <a:solidFill>
                  <a:srgbClr val="7C3AED"/>
                </a:solidFill>
              </a:rPr>
              <a:t>From a helpful chatbot to an agent that triggers real work</a:t>
            </a:r>
          </a:p>
        </p:txBody>
      </p:sp>
    </p:spTree>
    <p:extLst>
      <p:ext uri="{BB962C8B-B14F-4D97-AF65-F5344CB8AC3E}">
        <p14:creationId xmlns:p14="http://schemas.microsoft.com/office/powerpoint/2010/main" val="408217827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6992FD-56F4-4632-E07C-B2E5B3689D6E}"/>
              </a:ext>
            </a:extLst>
          </p:cNvPr>
          <p:cNvSpPr>
            <a:spLocks noGrp="1"/>
          </p:cNvSpPr>
          <p:nvPr>
            <p:ph type="title"/>
          </p:nvPr>
        </p:nvSpPr>
        <p:spPr/>
        <p:txBody>
          <a:bodyPr/>
          <a:lstStyle/>
          <a:p>
            <a:r>
              <a:rPr lang="en-US"/>
              <a:t>What Is Copilot Studio?</a:t>
            </a:r>
          </a:p>
        </p:txBody>
      </p:sp>
      <p:sp>
        <p:nvSpPr>
          <p:cNvPr id="3" name="Content Placeholder 2">
            <a:extLst>
              <a:ext uri="{FF2B5EF4-FFF2-40B4-BE49-F238E27FC236}">
                <a16:creationId xmlns:a16="http://schemas.microsoft.com/office/drawing/2014/main" id="{1CFFF989-1664-64BD-C695-2CAC2586BDDC}"/>
              </a:ext>
            </a:extLst>
          </p:cNvPr>
          <p:cNvSpPr>
            <a:spLocks noGrp="1"/>
          </p:cNvSpPr>
          <p:nvPr>
            <p:ph idx="1"/>
          </p:nvPr>
        </p:nvSpPr>
        <p:spPr/>
        <p:txBody>
          <a:bodyPr>
            <a:normAutofit/>
          </a:bodyPr>
          <a:lstStyle/>
          <a:p>
            <a:r>
              <a:rPr lang="en-US" sz="1800"/>
              <a:t>Microsoft's low-code tool for building custom AI agents
Create conversational agents that understand natural language
Ground them in your own knowledge — documents, sites, data
Agents can call Power Automate flows to take action
Publish to Teams, websites and other channels</a:t>
            </a:r>
          </a:p>
        </p:txBody>
      </p:sp>
    </p:spTree>
    <p:extLst>
      <p:ext uri="{BB962C8B-B14F-4D97-AF65-F5344CB8AC3E}">
        <p14:creationId xmlns:p14="http://schemas.microsoft.com/office/powerpoint/2010/main" val="207623564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952BFD-21C0-388E-F8AC-F4B03470DDC4}"/>
              </a:ext>
            </a:extLst>
          </p:cNvPr>
          <p:cNvSpPr>
            <a:spLocks noGrp="1"/>
          </p:cNvSpPr>
          <p:nvPr>
            <p:ph type="title"/>
          </p:nvPr>
        </p:nvSpPr>
        <p:spPr/>
        <p:txBody>
          <a:bodyPr/>
          <a:lstStyle/>
          <a:p>
            <a:r>
              <a:rPr lang="en-US"/>
              <a:t>The Copilot Studio Maker</a:t>
            </a:r>
          </a:p>
        </p:txBody>
      </p:sp>
      <p:sp>
        <p:nvSpPr>
          <p:cNvPr id="3" name="Content Placeholder 2">
            <a:extLst>
              <a:ext uri="{FF2B5EF4-FFF2-40B4-BE49-F238E27FC236}">
                <a16:creationId xmlns:a16="http://schemas.microsoft.com/office/drawing/2014/main" id="{89C7A1A4-1F57-2A5D-4EB6-6F3E00E8E5BB}"/>
              </a:ext>
            </a:extLst>
          </p:cNvPr>
          <p:cNvSpPr>
            <a:spLocks noGrp="1"/>
          </p:cNvSpPr>
          <p:nvPr>
            <p:ph idx="1"/>
          </p:nvPr>
        </p:nvSpPr>
        <p:spPr/>
        <p:txBody>
          <a:bodyPr>
            <a:normAutofit/>
          </a:bodyPr>
          <a:lstStyle/>
          <a:p>
            <a:r>
              <a:rPr lang="en-US" sz="1800"/>
              <a:t>Build agents at copilotstudio.microsoft.com
Describe your agent in plain language to get started
Add knowledge sources, topics and actions
Test live in the built-in chat panel as you build
Publish when you're happy — update any time</a:t>
            </a:r>
          </a:p>
        </p:txBody>
      </p:sp>
    </p:spTree>
    <p:extLst>
      <p:ext uri="{BB962C8B-B14F-4D97-AF65-F5344CB8AC3E}">
        <p14:creationId xmlns:p14="http://schemas.microsoft.com/office/powerpoint/2010/main" val="704177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3FB51-CEE1-B26C-4A7A-5AA8076775A6}"/>
              </a:ext>
            </a:extLst>
          </p:cNvPr>
          <p:cNvSpPr>
            <a:spLocks noGrp="1"/>
          </p:cNvSpPr>
          <p:nvPr>
            <p:ph type="title"/>
          </p:nvPr>
        </p:nvSpPr>
        <p:spPr/>
        <p:txBody>
          <a:bodyPr/>
          <a:lstStyle/>
          <a:p>
            <a:r>
              <a:rPr lang="en-US"/>
              <a:t>How an Agent Works</a:t>
            </a:r>
          </a:p>
        </p:txBody>
      </p:sp>
      <p:sp>
        <p:nvSpPr>
          <p:cNvPr id="3" name="Content Placeholder 2">
            <a:extLst>
              <a:ext uri="{FF2B5EF4-FFF2-40B4-BE49-F238E27FC236}">
                <a16:creationId xmlns:a16="http://schemas.microsoft.com/office/drawing/2014/main" id="{5211CD51-034A-0050-CEF4-C70825EAC938}"/>
              </a:ext>
            </a:extLst>
          </p:cNvPr>
          <p:cNvSpPr>
            <a:spLocks noGrp="1"/>
          </p:cNvSpPr>
          <p:nvPr>
            <p:ph idx="1"/>
          </p:nvPr>
        </p:nvSpPr>
        <p:spPr/>
        <p:txBody>
          <a:bodyPr>
            <a:normAutofit/>
          </a:bodyPr>
          <a:lstStyle/>
          <a:p>
            <a:r>
              <a:rPr lang="en-US" sz="1800"/>
              <a:t>Instructions tell the agent its role and how to behave
Knowledge gives it the information to answer from
Topics and prompts shape specific conversations
Actions let it do things — including running your flows
It interprets the user, responds, and can hand off to automation</a:t>
            </a:r>
          </a:p>
        </p:txBody>
      </p:sp>
    </p:spTree>
    <p:extLst>
      <p:ext uri="{BB962C8B-B14F-4D97-AF65-F5344CB8AC3E}">
        <p14:creationId xmlns:p14="http://schemas.microsoft.com/office/powerpoint/2010/main" val="407187054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4FB79F-EE74-DA8D-C6DC-3356C375A141}"/>
              </a:ext>
            </a:extLst>
          </p:cNvPr>
          <p:cNvSpPr>
            <a:spLocks noGrp="1"/>
          </p:cNvSpPr>
          <p:nvPr>
            <p:ph type="title"/>
          </p:nvPr>
        </p:nvSpPr>
        <p:spPr/>
        <p:txBody>
          <a:bodyPr/>
          <a:lstStyle/>
          <a:p>
            <a:r>
              <a:rPr lang="en-US"/>
              <a:t>What Makes a Good Business Agent</a:t>
            </a:r>
          </a:p>
        </p:txBody>
      </p:sp>
      <p:sp>
        <p:nvSpPr>
          <p:cNvPr id="3" name="Content Placeholder 2">
            <a:extLst>
              <a:ext uri="{FF2B5EF4-FFF2-40B4-BE49-F238E27FC236}">
                <a16:creationId xmlns:a16="http://schemas.microsoft.com/office/drawing/2014/main" id="{3E5DC6E2-59CF-0CB9-5E4D-D12A83E0071A}"/>
              </a:ext>
            </a:extLst>
          </p:cNvPr>
          <p:cNvSpPr>
            <a:spLocks noGrp="1"/>
          </p:cNvSpPr>
          <p:nvPr>
            <p:ph idx="1"/>
          </p:nvPr>
        </p:nvSpPr>
        <p:spPr/>
        <p:txBody>
          <a:bodyPr>
            <a:normAutofit/>
          </a:bodyPr>
          <a:lstStyle/>
          <a:p>
            <a:r>
              <a:rPr lang="en-US" sz="1800"/>
              <a:t>A clear, narrow job — it does one thing well
A defined audience and tone of voice
Reliable, structured output the next step can use
Grounded in trustworthy knowledge — no guessing
Knows when to act: hand off to a flow at the right moment</a:t>
            </a:r>
          </a:p>
        </p:txBody>
      </p:sp>
    </p:spTree>
    <p:extLst>
      <p:ext uri="{BB962C8B-B14F-4D97-AF65-F5344CB8AC3E}">
        <p14:creationId xmlns:p14="http://schemas.microsoft.com/office/powerpoint/2010/main" val="75993577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61CFB4-BFEB-85F9-D843-6DCB08E77699}"/>
              </a:ext>
            </a:extLst>
          </p:cNvPr>
          <p:cNvSpPr>
            <a:spLocks noGrp="1"/>
          </p:cNvSpPr>
          <p:nvPr>
            <p:ph type="title"/>
          </p:nvPr>
        </p:nvSpPr>
        <p:spPr/>
        <p:txBody>
          <a:bodyPr/>
          <a:lstStyle/>
          <a:p>
            <a:r>
              <a:rPr lang="en-US"/>
              <a:t>Creating Practical Business Agents</a:t>
            </a:r>
          </a:p>
        </p:txBody>
      </p:sp>
      <p:sp>
        <p:nvSpPr>
          <p:cNvPr id="3" name="Content Placeholder 2">
            <a:extLst>
              <a:ext uri="{FF2B5EF4-FFF2-40B4-BE49-F238E27FC236}">
                <a16:creationId xmlns:a16="http://schemas.microsoft.com/office/drawing/2014/main" id="{CA3C0C69-1FCB-07E7-DFFA-DDB3929526C8}"/>
              </a:ext>
            </a:extLst>
          </p:cNvPr>
          <p:cNvSpPr>
            <a:spLocks noGrp="1"/>
          </p:cNvSpPr>
          <p:nvPr>
            <p:ph idx="1"/>
          </p:nvPr>
        </p:nvSpPr>
        <p:spPr/>
        <p:txBody>
          <a:bodyPr>
            <a:normAutofit/>
          </a:bodyPr>
          <a:lstStyle/>
          <a:p>
            <a:r>
              <a:rPr lang="en-US" sz="1800"/>
              <a:t>Start from a real task: ‘handle sales enquiries’, ‘log procurement requests’
Write clear instructions: role, scope, what to collect, what to avoid
Add knowledge: product info, policies, price lists, FAQs
Decide the output: what should the agent hand back?
Test with realistic questions before connecting any automation</a:t>
            </a:r>
          </a:p>
        </p:txBody>
      </p:sp>
    </p:spTree>
    <p:extLst>
      <p:ext uri="{BB962C8B-B14F-4D97-AF65-F5344CB8AC3E}">
        <p14:creationId xmlns:p14="http://schemas.microsoft.com/office/powerpoint/2010/main" val="175146190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094133-EB8D-D48C-E00C-FBB587521BAB}"/>
              </a:ext>
            </a:extLst>
          </p:cNvPr>
          <p:cNvSpPr>
            <a:spLocks noGrp="1"/>
          </p:cNvSpPr>
          <p:nvPr>
            <p:ph type="title"/>
          </p:nvPr>
        </p:nvSpPr>
        <p:spPr/>
        <p:txBody>
          <a:bodyPr/>
          <a:lstStyle/>
          <a:p>
            <a:r>
              <a:rPr lang="en-US"/>
              <a:t>Prompt Design Fundamentals</a:t>
            </a:r>
          </a:p>
        </p:txBody>
      </p:sp>
      <p:sp>
        <p:nvSpPr>
          <p:cNvPr id="3" name="Content Placeholder 2">
            <a:extLst>
              <a:ext uri="{FF2B5EF4-FFF2-40B4-BE49-F238E27FC236}">
                <a16:creationId xmlns:a16="http://schemas.microsoft.com/office/drawing/2014/main" id="{B91B447A-5DB7-731C-D493-1748FC1CFB8A}"/>
              </a:ext>
            </a:extLst>
          </p:cNvPr>
          <p:cNvSpPr>
            <a:spLocks noGrp="1"/>
          </p:cNvSpPr>
          <p:nvPr>
            <p:ph idx="1"/>
          </p:nvPr>
        </p:nvSpPr>
        <p:spPr/>
        <p:txBody>
          <a:bodyPr>
            <a:normAutofit/>
          </a:bodyPr>
          <a:lstStyle/>
          <a:p>
            <a:r>
              <a:rPr lang="en-US" sz="1800"/>
              <a:t>The prompt is the instruction that shapes the agent's response
Be specific: state the role, the task and the format you want
Give examples of good answers — the agent learns the pattern
Set boundaries: what to do when information is missing
Iterate: test, refine the wording, test again</a:t>
            </a:r>
          </a:p>
        </p:txBody>
      </p:sp>
    </p:spTree>
    <p:extLst>
      <p:ext uri="{BB962C8B-B14F-4D97-AF65-F5344CB8AC3E}">
        <p14:creationId xmlns:p14="http://schemas.microsoft.com/office/powerpoint/2010/main" val="23614961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D51738-FC22-06D4-AA9C-1284BA381035}"/>
              </a:ext>
            </a:extLst>
          </p:cNvPr>
          <p:cNvSpPr>
            <a:spLocks noGrp="1"/>
          </p:cNvSpPr>
          <p:nvPr>
            <p:ph type="title"/>
          </p:nvPr>
        </p:nvSpPr>
        <p:spPr/>
        <p:txBody>
          <a:bodyPr/>
          <a:lstStyle/>
          <a:p>
            <a:r>
              <a:rPr lang="en-US"/>
              <a:t>Prompt Design for Structured Outputs</a:t>
            </a:r>
          </a:p>
        </p:txBody>
      </p:sp>
      <p:sp>
        <p:nvSpPr>
          <p:cNvPr id="3" name="Content Placeholder 2">
            <a:extLst>
              <a:ext uri="{FF2B5EF4-FFF2-40B4-BE49-F238E27FC236}">
                <a16:creationId xmlns:a16="http://schemas.microsoft.com/office/drawing/2014/main" id="{EFA17231-1535-FA3E-1E29-8F01D614AAAC}"/>
              </a:ext>
            </a:extLst>
          </p:cNvPr>
          <p:cNvSpPr>
            <a:spLocks noGrp="1"/>
          </p:cNvSpPr>
          <p:nvPr>
            <p:ph idx="1"/>
          </p:nvPr>
        </p:nvSpPr>
        <p:spPr/>
        <p:txBody>
          <a:bodyPr>
            <a:normAutofit/>
          </a:bodyPr>
          <a:lstStyle/>
          <a:p>
            <a:r>
              <a:rPr lang="en-US" sz="1800"/>
              <a:t>A workflow needs predictable fields, not free-flowing prose
Ask the agent to return the same fields every time
Name each field clearly: Customer, Product, Quantity, Priority
Specify the format — a labelled list, a table, or JSON
Structured output = data your Power Automate flow can read directly</a:t>
            </a:r>
          </a:p>
        </p:txBody>
      </p:sp>
    </p:spTree>
    <p:extLst>
      <p:ext uri="{BB962C8B-B14F-4D97-AF65-F5344CB8AC3E}">
        <p14:creationId xmlns:p14="http://schemas.microsoft.com/office/powerpoint/2010/main" val="102997595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FB60E9-163C-C95A-7BFB-155EB57D2AAA}"/>
              </a:ext>
            </a:extLst>
          </p:cNvPr>
          <p:cNvSpPr>
            <a:spLocks noGrp="1"/>
          </p:cNvSpPr>
          <p:nvPr>
            <p:ph type="title"/>
          </p:nvPr>
        </p:nvSpPr>
        <p:spPr/>
        <p:txBody>
          <a:bodyPr/>
          <a:lstStyle/>
          <a:p>
            <a:r>
              <a:rPr lang="en-US"/>
              <a:t>Structured Output Formats</a:t>
            </a:r>
          </a:p>
        </p:txBody>
      </p:sp>
      <p:sp>
        <p:nvSpPr>
          <p:cNvPr id="3" name="Content Placeholder 2">
            <a:extLst>
              <a:ext uri="{FF2B5EF4-FFF2-40B4-BE49-F238E27FC236}">
                <a16:creationId xmlns:a16="http://schemas.microsoft.com/office/drawing/2014/main" id="{6C9A2798-F21E-5AE9-F7E6-1A3A56553342}"/>
              </a:ext>
            </a:extLst>
          </p:cNvPr>
          <p:cNvSpPr>
            <a:spLocks noGrp="1"/>
          </p:cNvSpPr>
          <p:nvPr>
            <p:ph sz="half" idx="1"/>
          </p:nvPr>
        </p:nvSpPr>
        <p:spPr/>
        <p:txBody>
          <a:bodyPr>
            <a:normAutofit/>
          </a:bodyPr>
          <a:lstStyle/>
          <a:p>
            <a:r>
              <a:rPr lang="en-US" sz="1600"/>
              <a:t>LABELLED FIELDS
Customer: Acme Ltd
Product: Widget Pro
Quantity: 50
Priority: High
Easy to read, easy to map</a:t>
            </a:r>
          </a:p>
        </p:txBody>
      </p:sp>
      <p:sp>
        <p:nvSpPr>
          <p:cNvPr id="4" name="Content Placeholder 3">
            <a:extLst>
              <a:ext uri="{FF2B5EF4-FFF2-40B4-BE49-F238E27FC236}">
                <a16:creationId xmlns:a16="http://schemas.microsoft.com/office/drawing/2014/main" id="{2B3450F7-D16C-C4A8-CD66-BD6E44BF1072}"/>
              </a:ext>
            </a:extLst>
          </p:cNvPr>
          <p:cNvSpPr>
            <a:spLocks noGrp="1"/>
          </p:cNvSpPr>
          <p:nvPr>
            <p:ph sz="half" idx="2"/>
          </p:nvPr>
        </p:nvSpPr>
        <p:spPr/>
        <p:txBody>
          <a:bodyPr>
            <a:normAutofit/>
          </a:bodyPr>
          <a:lstStyle/>
          <a:p>
            <a:r>
              <a:rPr lang="en-US" sz="1600"/>
              <a:t>JSON
{
  “customer”: “Acme Ltd”,
  “product”: “Widget Pro”,
  “quantity”: 50,
  “priority”: “High”
}</a:t>
            </a:r>
          </a:p>
        </p:txBody>
      </p:sp>
    </p:spTree>
    <p:extLst>
      <p:ext uri="{BB962C8B-B14F-4D97-AF65-F5344CB8AC3E}">
        <p14:creationId xmlns:p14="http://schemas.microsoft.com/office/powerpoint/2010/main" val="30082586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2C1699-291E-C771-80D0-8DC549FA0F41}"/>
              </a:ext>
            </a:extLst>
          </p:cNvPr>
          <p:cNvSpPr>
            <a:spLocks noGrp="1"/>
          </p:cNvSpPr>
          <p:nvPr>
            <p:ph type="title"/>
          </p:nvPr>
        </p:nvSpPr>
        <p:spPr/>
        <p:txBody>
          <a:bodyPr/>
          <a:lstStyle/>
          <a:p>
            <a:r>
              <a:rPr lang="en-US"/>
              <a:t>Example: A Structured Prompt</a:t>
            </a:r>
          </a:p>
        </p:txBody>
      </p:sp>
      <p:sp>
        <p:nvSpPr>
          <p:cNvPr id="3" name="Content Placeholder 2">
            <a:extLst>
              <a:ext uri="{FF2B5EF4-FFF2-40B4-BE49-F238E27FC236}">
                <a16:creationId xmlns:a16="http://schemas.microsoft.com/office/drawing/2014/main" id="{0FEA4F5C-5ECD-D950-2703-080A2C919249}"/>
              </a:ext>
            </a:extLst>
          </p:cNvPr>
          <p:cNvSpPr>
            <a:spLocks noGrp="1"/>
          </p:cNvSpPr>
          <p:nvPr>
            <p:ph sz="half" idx="1"/>
          </p:nvPr>
        </p:nvSpPr>
        <p:spPr/>
        <p:txBody>
          <a:bodyPr>
            <a:normAutofit/>
          </a:bodyPr>
          <a:lstStyle/>
          <a:p>
            <a:r>
              <a:rPr lang="en-US" sz="1600"/>
              <a:t>THE PROMPT
“You are a sales enquiry assistant.
From the customer's message, extract:
Customer name, Product, Quantity,
and Priority (High / Medium / Low).
Return the result as labelled fields.
If a detail is missing, write ‘Not stated’.”</a:t>
            </a:r>
          </a:p>
        </p:txBody>
      </p:sp>
      <p:sp>
        <p:nvSpPr>
          <p:cNvPr id="4" name="Content Placeholder 3">
            <a:extLst>
              <a:ext uri="{FF2B5EF4-FFF2-40B4-BE49-F238E27FC236}">
                <a16:creationId xmlns:a16="http://schemas.microsoft.com/office/drawing/2014/main" id="{98BD0EC0-10E0-BFBA-4D05-E2D9D90E4D69}"/>
              </a:ext>
            </a:extLst>
          </p:cNvPr>
          <p:cNvSpPr>
            <a:spLocks noGrp="1"/>
          </p:cNvSpPr>
          <p:nvPr>
            <p:ph sz="half" idx="2"/>
          </p:nvPr>
        </p:nvSpPr>
        <p:spPr/>
        <p:txBody>
          <a:bodyPr>
            <a:normAutofit/>
          </a:bodyPr>
          <a:lstStyle/>
          <a:p>
            <a:r>
              <a:rPr lang="en-US" sz="1600"/>
              <a:t>THE OUTPUT
Customer: Acme Ltd
Product: Widget Pro
Quantity: 50
Priority: High
→ Ready to log to Excel and notify sales</a:t>
            </a:r>
          </a:p>
        </p:txBody>
      </p:sp>
    </p:spTree>
    <p:extLst>
      <p:ext uri="{BB962C8B-B14F-4D97-AF65-F5344CB8AC3E}">
        <p14:creationId xmlns:p14="http://schemas.microsoft.com/office/powerpoint/2010/main" val="394750964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C6296A-C570-BB6C-B527-5B1C31ED36F8}"/>
              </a:ext>
            </a:extLst>
          </p:cNvPr>
          <p:cNvSpPr>
            <a:spLocks noGrp="1"/>
          </p:cNvSpPr>
          <p:nvPr>
            <p:ph type="title"/>
          </p:nvPr>
        </p:nvSpPr>
        <p:spPr/>
        <p:txBody>
          <a:bodyPr/>
          <a:lstStyle/>
          <a:p>
            <a:r>
              <a:rPr lang="en-US"/>
              <a:t>Connecting Agents to Power Automate Flows</a:t>
            </a:r>
          </a:p>
        </p:txBody>
      </p:sp>
      <p:sp>
        <p:nvSpPr>
          <p:cNvPr id="3" name="Content Placeholder 2">
            <a:extLst>
              <a:ext uri="{FF2B5EF4-FFF2-40B4-BE49-F238E27FC236}">
                <a16:creationId xmlns:a16="http://schemas.microsoft.com/office/drawing/2014/main" id="{DE914721-D499-2ED4-4B0E-F13C4C5F36CC}"/>
              </a:ext>
            </a:extLst>
          </p:cNvPr>
          <p:cNvSpPr>
            <a:spLocks noGrp="1"/>
          </p:cNvSpPr>
          <p:nvPr>
            <p:ph idx="1"/>
          </p:nvPr>
        </p:nvSpPr>
        <p:spPr/>
        <p:txBody>
          <a:bodyPr>
            <a:normAutofit/>
          </a:bodyPr>
          <a:lstStyle/>
          <a:p>
            <a:r>
              <a:rPr lang="en-US" sz="1800"/>
              <a:t>An agent can call a flow as one of its actions
Build the flow with an ‘instant’ trigger that accepts inputs
Add the flow to your agent in Copilot Studio
The agent passes data in; the flow runs and returns a result
This is how a conversation turns into real action</a:t>
            </a:r>
          </a:p>
        </p:txBody>
      </p:sp>
    </p:spTree>
    <p:extLst>
      <p:ext uri="{BB962C8B-B14F-4D97-AF65-F5344CB8AC3E}">
        <p14:creationId xmlns:p14="http://schemas.microsoft.com/office/powerpoint/2010/main" val="253661115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F60A6-FC38-871E-C0FC-43F5C0D2855E}"/>
              </a:ext>
            </a:extLst>
          </p:cNvPr>
          <p:cNvSpPr>
            <a:spLocks noGrp="1"/>
          </p:cNvSpPr>
          <p:nvPr>
            <p:ph type="title"/>
          </p:nvPr>
        </p:nvSpPr>
        <p:spPr/>
        <p:txBody>
          <a:bodyPr/>
          <a:lstStyle/>
          <a:p>
            <a:r>
              <a:rPr lang="en-US"/>
              <a:t>Passing Outputs into Workflows</a:t>
            </a:r>
          </a:p>
        </p:txBody>
      </p:sp>
      <p:sp>
        <p:nvSpPr>
          <p:cNvPr id="3" name="Content Placeholder 2">
            <a:extLst>
              <a:ext uri="{FF2B5EF4-FFF2-40B4-BE49-F238E27FC236}">
                <a16:creationId xmlns:a16="http://schemas.microsoft.com/office/drawing/2014/main" id="{073BF8C8-55B9-3240-CD0E-AB0847E360C8}"/>
              </a:ext>
            </a:extLst>
          </p:cNvPr>
          <p:cNvSpPr>
            <a:spLocks noGrp="1"/>
          </p:cNvSpPr>
          <p:nvPr>
            <p:ph idx="1"/>
          </p:nvPr>
        </p:nvSpPr>
        <p:spPr/>
        <p:txBody>
          <a:bodyPr>
            <a:normAutofit/>
          </a:bodyPr>
          <a:lstStyle/>
          <a:p>
            <a:r>
              <a:rPr lang="en-US" sz="1800"/>
              <a:t>The agent's structured output becomes the flow's input
Each field maps to a flow parameter: Customer, Product, Quantity
The flow uses those values in its actions — log, email, approve
Clean structured output makes mapping effortless
Garbage in, garbage out — good prompts pay off here</a:t>
            </a:r>
          </a:p>
        </p:txBody>
      </p:sp>
    </p:spTree>
    <p:extLst>
      <p:ext uri="{BB962C8B-B14F-4D97-AF65-F5344CB8AC3E}">
        <p14:creationId xmlns:p14="http://schemas.microsoft.com/office/powerpoint/2010/main" val="1397997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C2E25-47E9-7C3D-5BF6-270B2C4F7A8A}"/>
              </a:ext>
            </a:extLst>
          </p:cNvPr>
          <p:cNvSpPr>
            <a:spLocks noGrp="1"/>
          </p:cNvSpPr>
          <p:nvPr>
            <p:ph type="title"/>
          </p:nvPr>
        </p:nvSpPr>
        <p:spPr/>
        <p:txBody>
          <a:bodyPr/>
          <a:lstStyle/>
          <a:p>
            <a:r>
              <a:rPr lang="en-US"/>
              <a:t>Input and Output Mapping</a:t>
            </a:r>
          </a:p>
        </p:txBody>
      </p:sp>
      <p:sp>
        <p:nvSpPr>
          <p:cNvPr id="3" name="Content Placeholder 2">
            <a:extLst>
              <a:ext uri="{FF2B5EF4-FFF2-40B4-BE49-F238E27FC236}">
                <a16:creationId xmlns:a16="http://schemas.microsoft.com/office/drawing/2014/main" id="{D20A7C00-B18D-B4F1-3094-74D1152F6FA2}"/>
              </a:ext>
            </a:extLst>
          </p:cNvPr>
          <p:cNvSpPr>
            <a:spLocks noGrp="1"/>
          </p:cNvSpPr>
          <p:nvPr>
            <p:ph idx="1"/>
          </p:nvPr>
        </p:nvSpPr>
        <p:spPr/>
        <p:txBody>
          <a:bodyPr>
            <a:normAutofit/>
          </a:bodyPr>
          <a:lstStyle/>
          <a:p>
            <a:r>
              <a:rPr lang="en-US" sz="1800"/>
              <a:t>Define the flow's inputs to match the agent's fields
Map each agent field to the matching flow parameter
The flow can return a value back to the agent (e.g. a reference number)
The agent confirms to the user: ‘Logged — your reference is 1042’
Data flows both ways: agent → flow → agent</a:t>
            </a:r>
          </a:p>
        </p:txBody>
      </p:sp>
    </p:spTree>
    <p:extLst>
      <p:ext uri="{BB962C8B-B14F-4D97-AF65-F5344CB8AC3E}">
        <p14:creationId xmlns:p14="http://schemas.microsoft.com/office/powerpoint/2010/main" val="2707578365"/>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A429E-CAFB-6250-E072-71143608D6DE}"/>
              </a:ext>
            </a:extLst>
          </p:cNvPr>
          <p:cNvSpPr>
            <a:spLocks noGrp="1"/>
          </p:cNvSpPr>
          <p:nvPr>
            <p:ph type="title"/>
          </p:nvPr>
        </p:nvSpPr>
        <p:spPr/>
        <p:txBody>
          <a:bodyPr/>
          <a:lstStyle/>
          <a:p>
            <a:r>
              <a:rPr lang="en-US"/>
              <a:t>Best Practices for Agent + Flow</a:t>
            </a:r>
          </a:p>
        </p:txBody>
      </p:sp>
      <p:sp>
        <p:nvSpPr>
          <p:cNvPr id="3" name="Content Placeholder 2">
            <a:extLst>
              <a:ext uri="{FF2B5EF4-FFF2-40B4-BE49-F238E27FC236}">
                <a16:creationId xmlns:a16="http://schemas.microsoft.com/office/drawing/2014/main" id="{50FD0C1E-81F0-DB26-D617-CF9A75248E02}"/>
              </a:ext>
            </a:extLst>
          </p:cNvPr>
          <p:cNvSpPr>
            <a:spLocks noGrp="1"/>
          </p:cNvSpPr>
          <p:nvPr>
            <p:ph idx="1"/>
          </p:nvPr>
        </p:nvSpPr>
        <p:spPr/>
        <p:txBody>
          <a:bodyPr>
            <a:normAutofit/>
          </a:bodyPr>
          <a:lstStyle/>
          <a:p>
            <a:r>
              <a:rPr lang="en-US" sz="1800"/>
              <a:t>Keep each flow focused on one clear job
Validate inputs — handle missing or odd data gracefully
Use clear field names shared between agent and flow
Test the flow on its own before wiring it to the agent
Tell the user what happened — confirm success or explain failure</a:t>
            </a:r>
          </a:p>
        </p:txBody>
      </p:sp>
    </p:spTree>
    <p:extLst>
      <p:ext uri="{BB962C8B-B14F-4D97-AF65-F5344CB8AC3E}">
        <p14:creationId xmlns:p14="http://schemas.microsoft.com/office/powerpoint/2010/main" val="271279878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FD7BC-9289-269C-BE0E-C5473C50F50E}"/>
              </a:ext>
            </a:extLst>
          </p:cNvPr>
          <p:cNvSpPr>
            <a:spLocks noGrp="1"/>
          </p:cNvSpPr>
          <p:nvPr>
            <p:ph type="title"/>
          </p:nvPr>
        </p:nvSpPr>
        <p:spPr/>
        <p:txBody>
          <a:bodyPr/>
          <a:lstStyle/>
          <a:p>
            <a:r>
              <a:rPr lang="en-US"/>
              <a:t>How Agents and Power Automate Work Together</a:t>
            </a:r>
          </a:p>
        </p:txBody>
      </p:sp>
      <p:sp>
        <p:nvSpPr>
          <p:cNvPr id="3" name="Rounded Rectangle 2">
            <a:extLst>
              <a:ext uri="{FF2B5EF4-FFF2-40B4-BE49-F238E27FC236}">
                <a16:creationId xmlns:a16="http://schemas.microsoft.com/office/drawing/2014/main" id="{11C22000-7430-BB43-A51C-F87BBC2CAF9F}"/>
              </a:ext>
            </a:extLst>
          </p:cNvPr>
          <p:cNvSpPr/>
          <p:nvPr/>
        </p:nvSpPr>
        <p:spPr>
          <a:xfrm>
            <a:off x="317500" y="2528888"/>
            <a:ext cx="24892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USER</a:t>
            </a:r>
          </a:p>
        </p:txBody>
      </p:sp>
      <p:sp>
        <p:nvSpPr>
          <p:cNvPr id="4" name="TextBox 3">
            <a:extLst>
              <a:ext uri="{FF2B5EF4-FFF2-40B4-BE49-F238E27FC236}">
                <a16:creationId xmlns:a16="http://schemas.microsoft.com/office/drawing/2014/main" id="{8BA292EB-B8CA-1A41-8F65-A6A97D0F94A1}"/>
              </a:ext>
            </a:extLst>
          </p:cNvPr>
          <p:cNvSpPr txBox="1"/>
          <p:nvPr/>
        </p:nvSpPr>
        <p:spPr>
          <a:xfrm>
            <a:off x="3175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asks in plain language</a:t>
            </a:r>
          </a:p>
        </p:txBody>
      </p:sp>
      <p:sp>
        <p:nvSpPr>
          <p:cNvPr id="5" name="Right Arrow 4">
            <a:extLst>
              <a:ext uri="{FF2B5EF4-FFF2-40B4-BE49-F238E27FC236}">
                <a16:creationId xmlns:a16="http://schemas.microsoft.com/office/drawing/2014/main" id="{11DF5822-85C5-2B4E-A6DA-4AFEF3603271}"/>
              </a:ext>
            </a:extLst>
          </p:cNvPr>
          <p:cNvSpPr/>
          <p:nvPr/>
        </p:nvSpPr>
        <p:spPr>
          <a:xfrm>
            <a:off x="28575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9A26B2EB-D867-E44B-B76E-A67375D8236E}"/>
              </a:ext>
            </a:extLst>
          </p:cNvPr>
          <p:cNvSpPr/>
          <p:nvPr/>
        </p:nvSpPr>
        <p:spPr>
          <a:xfrm>
            <a:off x="3340100" y="2528888"/>
            <a:ext cx="24892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AI AGENT</a:t>
            </a:r>
          </a:p>
        </p:txBody>
      </p:sp>
      <p:sp>
        <p:nvSpPr>
          <p:cNvPr id="7" name="TextBox 6">
            <a:extLst>
              <a:ext uri="{FF2B5EF4-FFF2-40B4-BE49-F238E27FC236}">
                <a16:creationId xmlns:a16="http://schemas.microsoft.com/office/drawing/2014/main" id="{0179C995-6F19-3C4F-818D-1AF782E85923}"/>
              </a:ext>
            </a:extLst>
          </p:cNvPr>
          <p:cNvSpPr txBox="1"/>
          <p:nvPr/>
        </p:nvSpPr>
        <p:spPr>
          <a:xfrm>
            <a:off x="33401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interprets &amp; extracts structured fields</a:t>
            </a:r>
          </a:p>
        </p:txBody>
      </p:sp>
      <p:sp>
        <p:nvSpPr>
          <p:cNvPr id="8" name="Right Arrow 7">
            <a:extLst>
              <a:ext uri="{FF2B5EF4-FFF2-40B4-BE49-F238E27FC236}">
                <a16:creationId xmlns:a16="http://schemas.microsoft.com/office/drawing/2014/main" id="{3204D9EA-9182-9543-B577-9EF5993D3AC7}"/>
              </a:ext>
            </a:extLst>
          </p:cNvPr>
          <p:cNvSpPr/>
          <p:nvPr/>
        </p:nvSpPr>
        <p:spPr>
          <a:xfrm>
            <a:off x="58801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0241978C-F9D5-1D40-B750-639DA26E3D65}"/>
              </a:ext>
            </a:extLst>
          </p:cNvPr>
          <p:cNvSpPr/>
          <p:nvPr/>
        </p:nvSpPr>
        <p:spPr>
          <a:xfrm>
            <a:off x="6362700" y="2528888"/>
            <a:ext cx="24892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POWER AUTOMATE</a:t>
            </a:r>
          </a:p>
        </p:txBody>
      </p:sp>
      <p:sp>
        <p:nvSpPr>
          <p:cNvPr id="10" name="TextBox 9">
            <a:extLst>
              <a:ext uri="{FF2B5EF4-FFF2-40B4-BE49-F238E27FC236}">
                <a16:creationId xmlns:a16="http://schemas.microsoft.com/office/drawing/2014/main" id="{CFA1A1EA-A54B-D446-9106-8809094DC57C}"/>
              </a:ext>
            </a:extLst>
          </p:cNvPr>
          <p:cNvSpPr txBox="1"/>
          <p:nvPr/>
        </p:nvSpPr>
        <p:spPr>
          <a:xfrm>
            <a:off x="63627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runs the flow: log, email, approve</a:t>
            </a:r>
          </a:p>
        </p:txBody>
      </p:sp>
      <p:sp>
        <p:nvSpPr>
          <p:cNvPr id="11" name="Right Arrow 10">
            <a:extLst>
              <a:ext uri="{FF2B5EF4-FFF2-40B4-BE49-F238E27FC236}">
                <a16:creationId xmlns:a16="http://schemas.microsoft.com/office/drawing/2014/main" id="{3D3E9837-C6CC-5E44-BFA4-B06026581830}"/>
              </a:ext>
            </a:extLst>
          </p:cNvPr>
          <p:cNvSpPr/>
          <p:nvPr/>
        </p:nvSpPr>
        <p:spPr>
          <a:xfrm>
            <a:off x="8902700" y="3138488"/>
            <a:ext cx="4318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CC7CA25D-AD13-ED48-BA97-F4D166A72B4D}"/>
              </a:ext>
            </a:extLst>
          </p:cNvPr>
          <p:cNvSpPr/>
          <p:nvPr/>
        </p:nvSpPr>
        <p:spPr>
          <a:xfrm>
            <a:off x="9385300" y="2528888"/>
            <a:ext cx="24892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b="1">
                <a:solidFill>
                  <a:srgbClr val="FFFFFF"/>
                </a:solidFill>
              </a:rPr>
              <a:t>RESULT</a:t>
            </a:r>
          </a:p>
        </p:txBody>
      </p:sp>
      <p:sp>
        <p:nvSpPr>
          <p:cNvPr id="13" name="TextBox 12">
            <a:extLst>
              <a:ext uri="{FF2B5EF4-FFF2-40B4-BE49-F238E27FC236}">
                <a16:creationId xmlns:a16="http://schemas.microsoft.com/office/drawing/2014/main" id="{F79897D2-6F75-1740-A4FE-05B015515A77}"/>
              </a:ext>
            </a:extLst>
          </p:cNvPr>
          <p:cNvSpPr txBox="1"/>
          <p:nvPr/>
        </p:nvSpPr>
        <p:spPr>
          <a:xfrm>
            <a:off x="9385300" y="4154488"/>
            <a:ext cx="2489200" cy="685800"/>
          </a:xfrm>
          <a:prstGeom prst="rect">
            <a:avLst/>
          </a:prstGeom>
          <a:noFill/>
        </p:spPr>
        <p:txBody>
          <a:bodyPr vertOverflow="overflow" vert="horz" wrap="square" rtlCol="0" anchor="t">
            <a:spAutoFit/>
          </a:bodyPr>
          <a:lstStyle/>
          <a:p>
            <a:pPr algn="l"/>
            <a:r>
              <a:rPr lang="en-US" sz="1400">
                <a:solidFill>
                  <a:srgbClr val="2B2B40"/>
                </a:solidFill>
              </a:rPr>
              <a:t>action done + confirmation back</a:t>
            </a:r>
          </a:p>
        </p:txBody>
      </p:sp>
      <p:sp>
        <p:nvSpPr>
          <p:cNvPr id="14" name="TextBox 13">
            <a:extLst>
              <a:ext uri="{FF2B5EF4-FFF2-40B4-BE49-F238E27FC236}">
                <a16:creationId xmlns:a16="http://schemas.microsoft.com/office/drawing/2014/main" id="{4CFB2CBA-7CE1-3B46-8B2D-AA5F1EE61C1E}"/>
              </a:ext>
            </a:extLst>
          </p:cNvPr>
          <p:cNvSpPr txBox="1"/>
          <p:nvPr/>
        </p:nvSpPr>
        <p:spPr>
          <a:xfrm>
            <a:off x="317500" y="5043488"/>
            <a:ext cx="11557000" cy="508000"/>
          </a:xfrm>
          <a:prstGeom prst="rect">
            <a:avLst/>
          </a:prstGeom>
          <a:noFill/>
        </p:spPr>
        <p:txBody>
          <a:bodyPr vertOverflow="overflow" vert="horz" wrap="square" rtlCol="0" anchor="t">
            <a:spAutoFit/>
          </a:bodyPr>
          <a:lstStyle/>
          <a:p>
            <a:pPr algn="l"/>
            <a:r>
              <a:rPr lang="en-US" sz="1600" i="1">
                <a:solidFill>
                  <a:srgbClr val="2B2B40"/>
                </a:solidFill>
              </a:rPr>
              <a:t>The agent handles the conversation and the thinking; Power Automate does the work across your systems.</a:t>
            </a:r>
          </a:p>
        </p:txBody>
      </p:sp>
    </p:spTree>
    <p:extLst>
      <p:ext uri="{BB962C8B-B14F-4D97-AF65-F5344CB8AC3E}">
        <p14:creationId xmlns:p14="http://schemas.microsoft.com/office/powerpoint/2010/main" val="2243843196"/>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56C47B-0463-4404-4CAE-F97494FB3AC4}"/>
              </a:ext>
            </a:extLst>
          </p:cNvPr>
          <p:cNvSpPr>
            <a:spLocks noGrp="1"/>
          </p:cNvSpPr>
          <p:nvPr>
            <p:ph type="title"/>
          </p:nvPr>
        </p:nvSpPr>
        <p:spPr/>
        <p:txBody>
          <a:bodyPr/>
          <a:lstStyle/>
          <a:p>
            <a:r>
              <a:rPr lang="en-US"/>
              <a:t>Hands-On Labs · Copilot Studio</a:t>
            </a:r>
          </a:p>
        </p:txBody>
      </p:sp>
      <p:sp>
        <p:nvSpPr>
          <p:cNvPr id="3" name="Text Placeholder 2">
            <a:extLst>
              <a:ext uri="{FF2B5EF4-FFF2-40B4-BE49-F238E27FC236}">
                <a16:creationId xmlns:a16="http://schemas.microsoft.com/office/drawing/2014/main" id="{1CA1F413-66CD-EEE8-148E-0A39E1D3C826}"/>
              </a:ext>
            </a:extLst>
          </p:cNvPr>
          <p:cNvSpPr>
            <a:spLocks noGrp="1"/>
          </p:cNvSpPr>
          <p:nvPr>
            <p:ph type="body" idx="1"/>
          </p:nvPr>
        </p:nvSpPr>
        <p:spPr/>
        <p:txBody>
          <a:bodyPr>
            <a:normAutofit/>
          </a:bodyPr>
          <a:lstStyle/>
          <a:p>
            <a:r>
              <a:rPr lang="en-US" sz="1800" b="1">
                <a:solidFill>
                  <a:srgbClr val="7C3AED"/>
                </a:solidFill>
              </a:rPr>
              <a:t>Six labs: create an agent, add knowledge &amp; tools, then three business agents</a:t>
            </a:r>
          </a:p>
        </p:txBody>
      </p:sp>
    </p:spTree>
    <p:extLst>
      <p:ext uri="{BB962C8B-B14F-4D97-AF65-F5344CB8AC3E}">
        <p14:creationId xmlns:p14="http://schemas.microsoft.com/office/powerpoint/2010/main" val="27341898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9 — Sales Enquiry Assistant</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An agent that captures sales enquiries
as structured fields
YOU'LL USE
Copilot Studio agent
A structured-output prompt</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Create an agent for sales enquiries
2.  Add instructions and product knowledge
3.  Prompt it to extract Customer, Product, Qty
4.  Test with sample enquiries
5.  Check the output is clean and consistent</a:t>
            </a:r>
          </a:p>
        </p:txBody>
      </p:sp>
    </p:spTree>
    <p:extLst>
      <p:ext uri="{BB962C8B-B14F-4D97-AF65-F5344CB8AC3E}">
        <p14:creationId xmlns:p14="http://schemas.microsoft.com/office/powerpoint/2010/main" val="175085407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66D420-67FD-D03D-5F8F-5EA8E9E3A26D}"/>
              </a:ext>
            </a:extLst>
          </p:cNvPr>
          <p:cNvSpPr>
            <a:spLocks noGrp="1"/>
          </p:cNvSpPr>
          <p:nvPr>
            <p:ph type="title"/>
          </p:nvPr>
        </p:nvSpPr>
        <p:spPr/>
        <p:txBody>
          <a:bodyPr/>
          <a:lstStyle/>
          <a:p>
            <a:r>
              <a:rPr lang="en-US"/>
              <a:t>Lab 10 — Procurement Request Workflow</a:t>
            </a:r>
          </a:p>
        </p:txBody>
      </p:sp>
      <p:sp>
        <p:nvSpPr>
          <p:cNvPr id="3" name="Content Placeholder 2">
            <a:extLst>
              <a:ext uri="{FF2B5EF4-FFF2-40B4-BE49-F238E27FC236}">
                <a16:creationId xmlns:a16="http://schemas.microsoft.com/office/drawing/2014/main" id="{825E4BD2-D173-5808-0363-F77B7D682F97}"/>
              </a:ext>
            </a:extLst>
          </p:cNvPr>
          <p:cNvSpPr>
            <a:spLocks noGrp="1"/>
          </p:cNvSpPr>
          <p:nvPr>
            <p:ph sz="half" idx="1"/>
          </p:nvPr>
        </p:nvSpPr>
        <p:spPr/>
        <p:txBody>
          <a:bodyPr>
            <a:normAutofit/>
          </a:bodyPr>
          <a:lstStyle/>
          <a:p>
            <a:r>
              <a:rPr lang="en-US" sz="1600"/>
              <a:t>GOAL
An agent that takes procurement requests
and starts an approval flow
YOU'LL USE
Copilot Studio agent
A Power Automate flow (approval)</a:t>
            </a:r>
          </a:p>
        </p:txBody>
      </p:sp>
      <p:sp>
        <p:nvSpPr>
          <p:cNvPr id="4" name="Content Placeholder 3">
            <a:extLst>
              <a:ext uri="{FF2B5EF4-FFF2-40B4-BE49-F238E27FC236}">
                <a16:creationId xmlns:a16="http://schemas.microsoft.com/office/drawing/2014/main" id="{2BAEDEC7-32E6-5E4A-EA59-F2C89EC604AF}"/>
              </a:ext>
            </a:extLst>
          </p:cNvPr>
          <p:cNvSpPr>
            <a:spLocks noGrp="1"/>
          </p:cNvSpPr>
          <p:nvPr>
            <p:ph sz="half" idx="2"/>
          </p:nvPr>
        </p:nvSpPr>
        <p:spPr/>
        <p:txBody>
          <a:bodyPr>
            <a:normAutofit/>
          </a:bodyPr>
          <a:lstStyle/>
          <a:p>
            <a:r>
              <a:rPr lang="en-US" sz="1600"/>
              <a:t>STEPS
1.  Build an agent to collect request details
2.  Create a flow with an approval step
3.  Connect the flow as an agent action
4.  Pass the request fields into the flow
5.  Test end-to-end: request → approval</a:t>
            </a:r>
          </a:p>
        </p:txBody>
      </p:sp>
    </p:spTree>
    <p:extLst>
      <p:ext uri="{BB962C8B-B14F-4D97-AF65-F5344CB8AC3E}">
        <p14:creationId xmlns:p14="http://schemas.microsoft.com/office/powerpoint/2010/main" val="111367917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821669-B5EA-1FB5-752E-D48BE161B1BA}"/>
              </a:ext>
            </a:extLst>
          </p:cNvPr>
          <p:cNvSpPr>
            <a:spLocks noGrp="1"/>
          </p:cNvSpPr>
          <p:nvPr>
            <p:ph type="title"/>
          </p:nvPr>
        </p:nvSpPr>
        <p:spPr/>
        <p:txBody>
          <a:bodyPr/>
          <a:lstStyle/>
          <a:p>
            <a:r>
              <a:rPr lang="en-US"/>
              <a:t>Lab 11 — Automated Response Generation</a:t>
            </a:r>
          </a:p>
        </p:txBody>
      </p:sp>
      <p:sp>
        <p:nvSpPr>
          <p:cNvPr id="3" name="Content Placeholder 2">
            <a:extLst>
              <a:ext uri="{FF2B5EF4-FFF2-40B4-BE49-F238E27FC236}">
                <a16:creationId xmlns:a16="http://schemas.microsoft.com/office/drawing/2014/main" id="{B8E3914F-01D2-1AE3-D426-DDB8BF39C820}"/>
              </a:ext>
            </a:extLst>
          </p:cNvPr>
          <p:cNvSpPr>
            <a:spLocks noGrp="1"/>
          </p:cNvSpPr>
          <p:nvPr>
            <p:ph sz="half" idx="1"/>
          </p:nvPr>
        </p:nvSpPr>
        <p:spPr/>
        <p:txBody>
          <a:bodyPr>
            <a:normAutofit/>
          </a:bodyPr>
          <a:lstStyle/>
          <a:p>
            <a:r>
              <a:rPr lang="en-US" sz="1600"/>
              <a:t>GOAL
An agent that drafts a tailored reply
from the captured details
YOU'LL USE
Copilot Studio agent
Send email action</a:t>
            </a:r>
          </a:p>
        </p:txBody>
      </p:sp>
      <p:sp>
        <p:nvSpPr>
          <p:cNvPr id="4" name="Content Placeholder 3">
            <a:extLst>
              <a:ext uri="{FF2B5EF4-FFF2-40B4-BE49-F238E27FC236}">
                <a16:creationId xmlns:a16="http://schemas.microsoft.com/office/drawing/2014/main" id="{29E62AEB-C862-B252-D0A2-8B709D2C9537}"/>
              </a:ext>
            </a:extLst>
          </p:cNvPr>
          <p:cNvSpPr>
            <a:spLocks noGrp="1"/>
          </p:cNvSpPr>
          <p:nvPr>
            <p:ph sz="half" idx="2"/>
          </p:nvPr>
        </p:nvSpPr>
        <p:spPr/>
        <p:txBody>
          <a:bodyPr>
            <a:normAutofit/>
          </a:bodyPr>
          <a:lstStyle/>
          <a:p>
            <a:r>
              <a:rPr lang="en-US" sz="1600"/>
              <a:t>STEPS
1.  Reuse the enquiry details from Lab 9
2.  Prompt the agent to draft a reply
3.  Keep the tone professional and on-brand
4.  Send the draft via a flow
5.  Review, refine the prompt, repeat</a:t>
            </a:r>
          </a:p>
        </p:txBody>
      </p:sp>
    </p:spTree>
    <p:extLst>
      <p:ext uri="{BB962C8B-B14F-4D97-AF65-F5344CB8AC3E}">
        <p14:creationId xmlns:p14="http://schemas.microsoft.com/office/powerpoint/2010/main" val="336843723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20534-FF42-5EE2-C52D-D6A875AC7764}"/>
              </a:ext>
            </a:extLst>
          </p:cNvPr>
          <p:cNvSpPr>
            <a:spLocks noGrp="1"/>
          </p:cNvSpPr>
          <p:nvPr>
            <p:ph type="title"/>
          </p:nvPr>
        </p:nvSpPr>
        <p:spPr/>
        <p:txBody>
          <a:bodyPr/>
          <a:lstStyle/>
          <a:p>
            <a:r>
              <a:rPr lang="en-US"/>
              <a:t>Testing &amp; Debugging Agents</a:t>
            </a:r>
          </a:p>
        </p:txBody>
      </p:sp>
      <p:sp>
        <p:nvSpPr>
          <p:cNvPr id="3" name="Content Placeholder 2">
            <a:extLst>
              <a:ext uri="{FF2B5EF4-FFF2-40B4-BE49-F238E27FC236}">
                <a16:creationId xmlns:a16="http://schemas.microsoft.com/office/drawing/2014/main" id="{A4B4DC5E-4545-01F1-D1EA-4BEFEB1FDD67}"/>
              </a:ext>
            </a:extLst>
          </p:cNvPr>
          <p:cNvSpPr>
            <a:spLocks noGrp="1"/>
          </p:cNvSpPr>
          <p:nvPr>
            <p:ph idx="1"/>
          </p:nvPr>
        </p:nvSpPr>
        <p:spPr/>
        <p:txBody>
          <a:bodyPr>
            <a:normAutofit/>
          </a:bodyPr>
          <a:lstStyle/>
          <a:p>
            <a:r>
              <a:rPr lang="en-US" sz="1800"/>
              <a:t>Test in the chat panel with realistic, messy inputs
Check the output format is consistent every time
Trace flow runs to see exactly what data passed through
Refine the prompt when answers drift or fields go missing
Handle the edge cases: missing info, unexpected questions</a:t>
            </a:r>
          </a:p>
        </p:txBody>
      </p:sp>
    </p:spTree>
    <p:extLst>
      <p:ext uri="{BB962C8B-B14F-4D97-AF65-F5344CB8AC3E}">
        <p14:creationId xmlns:p14="http://schemas.microsoft.com/office/powerpoint/2010/main" val="141576618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45806-BBA9-BACB-9A42-A0C6831C1AB7}"/>
              </a:ext>
            </a:extLst>
          </p:cNvPr>
          <p:cNvSpPr>
            <a:spLocks noGrp="1"/>
          </p:cNvSpPr>
          <p:nvPr>
            <p:ph type="title"/>
          </p:nvPr>
        </p:nvSpPr>
        <p:spPr/>
        <p:txBody>
          <a:bodyPr/>
          <a:lstStyle/>
          <a:p>
            <a:r>
              <a:rPr lang="en-US"/>
              <a:t>Day 2 Recap</a:t>
            </a:r>
          </a:p>
        </p:txBody>
      </p:sp>
      <p:sp>
        <p:nvSpPr>
          <p:cNvPr id="3" name="Content Placeholder 2">
            <a:extLst>
              <a:ext uri="{FF2B5EF4-FFF2-40B4-BE49-F238E27FC236}">
                <a16:creationId xmlns:a16="http://schemas.microsoft.com/office/drawing/2014/main" id="{374A3DCA-15CA-E41E-DB93-4933698BD9C8}"/>
              </a:ext>
            </a:extLst>
          </p:cNvPr>
          <p:cNvSpPr>
            <a:spLocks noGrp="1"/>
          </p:cNvSpPr>
          <p:nvPr>
            <p:ph idx="1"/>
          </p:nvPr>
        </p:nvSpPr>
        <p:spPr/>
        <p:txBody>
          <a:bodyPr>
            <a:normAutofit/>
          </a:bodyPr>
          <a:lstStyle/>
          <a:p>
            <a:r>
              <a:rPr lang="en-US" sz="1800"/>
              <a:t>Copilot Studio builds low-code AI business agents
Good prompts produce structured, predictable output
Agents connect to Power Automate to take real action
You created an agent, added knowledge and tools, then built a sales assistant, a procurement agent and a response generator
Tomorrow: orchestrate full end-to-end workflows and build your own</a:t>
            </a:r>
          </a:p>
        </p:txBody>
      </p:sp>
    </p:spTree>
    <p:extLst>
      <p:ext uri="{BB962C8B-B14F-4D97-AF65-F5344CB8AC3E}">
        <p14:creationId xmlns:p14="http://schemas.microsoft.com/office/powerpoint/2010/main" val="407574008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0D72E3-AE14-8F81-2F0B-9E2919A2FE95}"/>
              </a:ext>
            </a:extLst>
          </p:cNvPr>
          <p:cNvSpPr>
            <a:spLocks noGrp="1"/>
          </p:cNvSpPr>
          <p:nvPr>
            <p:ph type="title"/>
          </p:nvPr>
        </p:nvSpPr>
        <p:spPr/>
        <p:txBody>
          <a:bodyPr/>
          <a:lstStyle/>
          <a:p>
            <a:r>
              <a:rPr lang="en-US"/>
              <a:t>Day 3 — End-to-End Automation &amp; Workshop</a:t>
            </a:r>
          </a:p>
        </p:txBody>
      </p:sp>
      <p:sp>
        <p:nvSpPr>
          <p:cNvPr id="3" name="Text Placeholder 2">
            <a:extLst>
              <a:ext uri="{FF2B5EF4-FFF2-40B4-BE49-F238E27FC236}">
                <a16:creationId xmlns:a16="http://schemas.microsoft.com/office/drawing/2014/main" id="{8FC80A94-63CC-BC3F-A555-2C76B6CB5E99}"/>
              </a:ext>
            </a:extLst>
          </p:cNvPr>
          <p:cNvSpPr>
            <a:spLocks noGrp="1"/>
          </p:cNvSpPr>
          <p:nvPr>
            <p:ph type="body" idx="1"/>
          </p:nvPr>
        </p:nvSpPr>
        <p:spPr/>
        <p:txBody>
          <a:bodyPr>
            <a:normAutofit/>
          </a:bodyPr>
          <a:lstStyle/>
          <a:p>
            <a:r>
              <a:rPr lang="en-US" sz="1800" b="1">
                <a:solidFill>
                  <a:srgbClr val="7C3AED"/>
                </a:solidFill>
              </a:rPr>
              <a:t>Modules 4 &amp; 5  ·  Tie it all together, then build your own</a:t>
            </a:r>
          </a:p>
        </p:txBody>
      </p:sp>
    </p:spTree>
    <p:extLst>
      <p:ext uri="{BB962C8B-B14F-4D97-AF65-F5344CB8AC3E}">
        <p14:creationId xmlns:p14="http://schemas.microsoft.com/office/powerpoint/2010/main" val="418261200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6D960F-5148-1E72-EDBD-9C1537F8039B}"/>
              </a:ext>
            </a:extLst>
          </p:cNvPr>
          <p:cNvSpPr>
            <a:spLocks noGrp="1"/>
          </p:cNvSpPr>
          <p:nvPr>
            <p:ph type="title"/>
          </p:nvPr>
        </p:nvSpPr>
        <p:spPr/>
        <p:txBody>
          <a:bodyPr/>
          <a:lstStyle/>
          <a:p>
            <a:r>
              <a:rPr lang="en-US"/>
              <a:t>Module 4 · End-to-End Workflow Automation</a:t>
            </a:r>
          </a:p>
        </p:txBody>
      </p:sp>
      <p:sp>
        <p:nvSpPr>
          <p:cNvPr id="3" name="Text Placeholder 2">
            <a:extLst>
              <a:ext uri="{FF2B5EF4-FFF2-40B4-BE49-F238E27FC236}">
                <a16:creationId xmlns:a16="http://schemas.microsoft.com/office/drawing/2014/main" id="{A96082DC-522E-9A10-168E-F1A5C96839D5}"/>
              </a:ext>
            </a:extLst>
          </p:cNvPr>
          <p:cNvSpPr>
            <a:spLocks noGrp="1"/>
          </p:cNvSpPr>
          <p:nvPr>
            <p:ph type="body" idx="1"/>
          </p:nvPr>
        </p:nvSpPr>
        <p:spPr/>
        <p:txBody>
          <a:bodyPr>
            <a:normAutofit/>
          </a:bodyPr>
          <a:lstStyle/>
          <a:p>
            <a:r>
              <a:rPr lang="en-US" sz="1800" b="1">
                <a:solidFill>
                  <a:srgbClr val="7C3AED"/>
                </a:solidFill>
              </a:rPr>
              <a:t>Orchestrate agents and flows into complete business processes</a:t>
            </a:r>
          </a:p>
        </p:txBody>
      </p:sp>
    </p:spTree>
    <p:extLst>
      <p:ext uri="{BB962C8B-B14F-4D97-AF65-F5344CB8AC3E}">
        <p14:creationId xmlns:p14="http://schemas.microsoft.com/office/powerpoint/2010/main" val="271675760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642F8-062B-35D2-EF06-816F41307EAB}"/>
              </a:ext>
            </a:extLst>
          </p:cNvPr>
          <p:cNvSpPr>
            <a:spLocks noGrp="1"/>
          </p:cNvSpPr>
          <p:nvPr>
            <p:ph type="title"/>
          </p:nvPr>
        </p:nvSpPr>
        <p:spPr/>
        <p:txBody>
          <a:bodyPr/>
          <a:lstStyle/>
          <a:p>
            <a:r>
              <a:rPr lang="en-US"/>
              <a:t>Agents + Power Automate, End to End</a:t>
            </a:r>
          </a:p>
        </p:txBody>
      </p:sp>
      <p:sp>
        <p:nvSpPr>
          <p:cNvPr id="3" name="Content Placeholder 2">
            <a:extLst>
              <a:ext uri="{FF2B5EF4-FFF2-40B4-BE49-F238E27FC236}">
                <a16:creationId xmlns:a16="http://schemas.microsoft.com/office/drawing/2014/main" id="{28B2DB7E-1F19-06E1-B801-490E19E100EA}"/>
              </a:ext>
            </a:extLst>
          </p:cNvPr>
          <p:cNvSpPr>
            <a:spLocks noGrp="1"/>
          </p:cNvSpPr>
          <p:nvPr>
            <p:ph idx="1"/>
          </p:nvPr>
        </p:nvSpPr>
        <p:spPr/>
        <p:txBody>
          <a:bodyPr>
            <a:normAutofit/>
          </a:bodyPr>
          <a:lstStyle/>
          <a:p>
            <a:r>
              <a:rPr lang="en-US" sz="1800"/>
              <a:t>The agent is the brain; the flow is the hands
Agent captures intent and structured data from a person
Flow carries out the steps across Excel, Outlook, Teams and approvals
Together they cover a process from first contact to final result
One conversation can trigger a whole chain of work</a:t>
            </a:r>
          </a:p>
        </p:txBody>
      </p:sp>
    </p:spTree>
    <p:extLst>
      <p:ext uri="{BB962C8B-B14F-4D97-AF65-F5344CB8AC3E}">
        <p14:creationId xmlns:p14="http://schemas.microsoft.com/office/powerpoint/2010/main" val="238028758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0FE00E-F573-E3F6-A34A-167439CDE4F6}"/>
              </a:ext>
            </a:extLst>
          </p:cNvPr>
          <p:cNvSpPr>
            <a:spLocks noGrp="1"/>
          </p:cNvSpPr>
          <p:nvPr>
            <p:ph type="title"/>
          </p:nvPr>
        </p:nvSpPr>
        <p:spPr/>
        <p:txBody>
          <a:bodyPr/>
          <a:lstStyle/>
          <a:p>
            <a:r>
              <a:rPr lang="en-US"/>
              <a:t>Workflow Orchestration</a:t>
            </a:r>
          </a:p>
        </p:txBody>
      </p:sp>
      <p:sp>
        <p:nvSpPr>
          <p:cNvPr id="3" name="Content Placeholder 2">
            <a:extLst>
              <a:ext uri="{FF2B5EF4-FFF2-40B4-BE49-F238E27FC236}">
                <a16:creationId xmlns:a16="http://schemas.microsoft.com/office/drawing/2014/main" id="{EDAA4994-88EE-B72B-B57C-A49674FFE9C9}"/>
              </a:ext>
            </a:extLst>
          </p:cNvPr>
          <p:cNvSpPr>
            <a:spLocks noGrp="1"/>
          </p:cNvSpPr>
          <p:nvPr>
            <p:ph idx="1"/>
          </p:nvPr>
        </p:nvSpPr>
        <p:spPr/>
        <p:txBody>
          <a:bodyPr>
            <a:normAutofit/>
          </a:bodyPr>
          <a:lstStyle/>
          <a:p>
            <a:r>
              <a:rPr lang="en-US" sz="1800"/>
              <a:t>Orchestration = coordinating multiple steps and systems in order
Sequence steps: do this, then that, then notify
Branch with conditions: approved vs rejected, high vs low value
Chain flows: one flow's output starts the next
The result: a reliable process that runs itself</a:t>
            </a:r>
          </a:p>
        </p:txBody>
      </p:sp>
    </p:spTree>
    <p:extLst>
      <p:ext uri="{BB962C8B-B14F-4D97-AF65-F5344CB8AC3E}">
        <p14:creationId xmlns:p14="http://schemas.microsoft.com/office/powerpoint/2010/main" val="1886577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3F139A-DEC4-E6F4-14A9-C02BF97686FE}"/>
              </a:ext>
            </a:extLst>
          </p:cNvPr>
          <p:cNvSpPr>
            <a:spLocks noGrp="1"/>
          </p:cNvSpPr>
          <p:nvPr>
            <p:ph type="title"/>
          </p:nvPr>
        </p:nvSpPr>
        <p:spPr/>
        <p:txBody>
          <a:bodyPr/>
          <a:lstStyle/>
          <a:p>
            <a:r>
              <a:rPr lang="en-US"/>
              <a:t>Orchestration Patterns</a:t>
            </a:r>
          </a:p>
        </p:txBody>
      </p:sp>
      <p:sp>
        <p:nvSpPr>
          <p:cNvPr id="3" name="Content Placeholder 2">
            <a:extLst>
              <a:ext uri="{FF2B5EF4-FFF2-40B4-BE49-F238E27FC236}">
                <a16:creationId xmlns:a16="http://schemas.microsoft.com/office/drawing/2014/main" id="{38B95C8D-CF00-99DC-110F-A2578CA3B30D}"/>
              </a:ext>
            </a:extLst>
          </p:cNvPr>
          <p:cNvSpPr>
            <a:spLocks noGrp="1"/>
          </p:cNvSpPr>
          <p:nvPr>
            <p:ph idx="1"/>
          </p:nvPr>
        </p:nvSpPr>
        <p:spPr/>
        <p:txBody>
          <a:bodyPr>
            <a:normAutofit/>
          </a:bodyPr>
          <a:lstStyle/>
          <a:p>
            <a:r>
              <a:rPr lang="en-US" sz="1800"/>
              <a:t>Capture → Log → Notify — record an event and tell the team
Submit → Approve → Act — route for sign-off, then proceed
Request → Route → Fulfil — send to the right owner and complete
Each pattern reuses the same triggers and actions you've learned
Most business processes are a combination of these</a:t>
            </a:r>
          </a:p>
        </p:txBody>
      </p:sp>
    </p:spTree>
    <p:extLst>
      <p:ext uri="{BB962C8B-B14F-4D97-AF65-F5344CB8AC3E}">
        <p14:creationId xmlns:p14="http://schemas.microsoft.com/office/powerpoint/2010/main" val="428484320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58143E-40F3-DFC6-37A6-DA30F78830E6}"/>
              </a:ext>
            </a:extLst>
          </p:cNvPr>
          <p:cNvSpPr>
            <a:spLocks noGrp="1"/>
          </p:cNvSpPr>
          <p:nvPr>
            <p:ph type="title"/>
          </p:nvPr>
        </p:nvSpPr>
        <p:spPr/>
        <p:txBody>
          <a:bodyPr/>
          <a:lstStyle/>
          <a:p>
            <a:r>
              <a:rPr lang="en-US"/>
              <a:t>Managing Outputs &amp; Next Steps</a:t>
            </a:r>
          </a:p>
        </p:txBody>
      </p:sp>
      <p:sp>
        <p:nvSpPr>
          <p:cNvPr id="3" name="Content Placeholder 2">
            <a:extLst>
              <a:ext uri="{FF2B5EF4-FFF2-40B4-BE49-F238E27FC236}">
                <a16:creationId xmlns:a16="http://schemas.microsoft.com/office/drawing/2014/main" id="{62AA70CD-152D-D02C-E980-242A19DE303F}"/>
              </a:ext>
            </a:extLst>
          </p:cNvPr>
          <p:cNvSpPr>
            <a:spLocks noGrp="1"/>
          </p:cNvSpPr>
          <p:nvPr>
            <p:ph idx="1"/>
          </p:nvPr>
        </p:nvSpPr>
        <p:spPr/>
        <p:txBody>
          <a:bodyPr>
            <a:normAutofit/>
          </a:bodyPr>
          <a:lstStyle/>
          <a:p>
            <a:r>
              <a:rPr lang="en-US" sz="1800"/>
              <a:t>Decide what each workflow should leave behind: a record, an email, a decision
Make outputs traceable — a log row or reference number
Feed one workflow's output into the next as input
Notify the right people at the right moment
Review logs regularly to spot bottlenecks and improve</a:t>
            </a:r>
          </a:p>
        </p:txBody>
      </p:sp>
    </p:spTree>
    <p:extLst>
      <p:ext uri="{BB962C8B-B14F-4D97-AF65-F5344CB8AC3E}">
        <p14:creationId xmlns:p14="http://schemas.microsoft.com/office/powerpoint/2010/main" val="171215869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F1490-BC6F-3E78-6615-320E2385856F}"/>
              </a:ext>
            </a:extLst>
          </p:cNvPr>
          <p:cNvSpPr>
            <a:spLocks noGrp="1"/>
          </p:cNvSpPr>
          <p:nvPr>
            <p:ph type="title"/>
          </p:nvPr>
        </p:nvSpPr>
        <p:spPr/>
        <p:txBody>
          <a:bodyPr/>
          <a:lstStyle/>
          <a:p>
            <a:r>
              <a:rPr lang="en-US"/>
              <a:t>Error Handling &amp; Monitoring</a:t>
            </a:r>
          </a:p>
        </p:txBody>
      </p:sp>
      <p:sp>
        <p:nvSpPr>
          <p:cNvPr id="3" name="Content Placeholder 2">
            <a:extLst>
              <a:ext uri="{FF2B5EF4-FFF2-40B4-BE49-F238E27FC236}">
                <a16:creationId xmlns:a16="http://schemas.microsoft.com/office/drawing/2014/main" id="{1EF55AE5-B915-D401-BC5F-2C76C93FC2FD}"/>
              </a:ext>
            </a:extLst>
          </p:cNvPr>
          <p:cNvSpPr>
            <a:spLocks noGrp="1"/>
          </p:cNvSpPr>
          <p:nvPr>
            <p:ph idx="1"/>
          </p:nvPr>
        </p:nvSpPr>
        <p:spPr/>
        <p:txBody>
          <a:bodyPr>
            <a:normAutofit/>
          </a:bodyPr>
          <a:lstStyle/>
          <a:p>
            <a:r>
              <a:rPr lang="en-US" sz="1800"/>
              <a:t>Things fail — plan for it so the process stays reliable
Add conditions to catch missing or invalid data
Configure run-after steps to handle failures gracefully
Notify someone when a flow errors — don't fail silently
Watch the run history to monitor health and fix issues fast</a:t>
            </a:r>
          </a:p>
        </p:txBody>
      </p:sp>
    </p:spTree>
    <p:extLst>
      <p:ext uri="{BB962C8B-B14F-4D97-AF65-F5344CB8AC3E}">
        <p14:creationId xmlns:p14="http://schemas.microsoft.com/office/powerpoint/2010/main" val="293994454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24F231-4EAC-F626-C6FA-8948B63B3374}"/>
              </a:ext>
            </a:extLst>
          </p:cNvPr>
          <p:cNvSpPr>
            <a:spLocks noGrp="1"/>
          </p:cNvSpPr>
          <p:nvPr>
            <p:ph type="title"/>
          </p:nvPr>
        </p:nvSpPr>
        <p:spPr/>
        <p:txBody>
          <a:bodyPr/>
          <a:lstStyle/>
          <a:p>
            <a:r>
              <a:rPr lang="en-US"/>
              <a:t>Business Workflow Examples</a:t>
            </a:r>
          </a:p>
        </p:txBody>
      </p:sp>
      <p:sp>
        <p:nvSpPr>
          <p:cNvPr id="3" name="Content Placeholder 2">
            <a:extLst>
              <a:ext uri="{FF2B5EF4-FFF2-40B4-BE49-F238E27FC236}">
                <a16:creationId xmlns:a16="http://schemas.microsoft.com/office/drawing/2014/main" id="{97E4643C-1967-AFDB-1DD0-CC35E82F06B7}"/>
              </a:ext>
            </a:extLst>
          </p:cNvPr>
          <p:cNvSpPr>
            <a:spLocks noGrp="1"/>
          </p:cNvSpPr>
          <p:nvPr>
            <p:ph idx="1"/>
          </p:nvPr>
        </p:nvSpPr>
        <p:spPr/>
        <p:txBody>
          <a:bodyPr>
            <a:normAutofit/>
          </a:bodyPr>
          <a:lstStyle/>
          <a:p>
            <a:r>
              <a:rPr lang="en-US" sz="1800"/>
              <a:t>Next: four hands-on lab workflows
Email enquiry → Excel logging → notification email
Invoice upload → approval workflow
Purchase request → manager approval → notification
Order processing → confirm, log &amp; restock alert
Each combines the triggers, actions and agents you've learned</a:t>
            </a:r>
          </a:p>
        </p:txBody>
      </p:sp>
    </p:spTree>
    <p:extLst>
      <p:ext uri="{BB962C8B-B14F-4D97-AF65-F5344CB8AC3E}">
        <p14:creationId xmlns:p14="http://schemas.microsoft.com/office/powerpoint/2010/main" val="1558271256"/>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5B65-C72A-CAEF-25C1-93AB41D2A383}"/>
              </a:ext>
            </a:extLst>
          </p:cNvPr>
          <p:cNvSpPr>
            <a:spLocks noGrp="1"/>
          </p:cNvSpPr>
          <p:nvPr>
            <p:ph type="title"/>
          </p:nvPr>
        </p:nvSpPr>
        <p:spPr/>
        <p:txBody>
          <a:bodyPr/>
          <a:lstStyle/>
          <a:p>
            <a:r>
              <a:rPr lang="en-US"/>
              <a:t>Lab 12 — Email Enquiry → Excel → Notification</a:t>
            </a:r>
          </a:p>
        </p:txBody>
      </p:sp>
      <p:sp>
        <p:nvSpPr>
          <p:cNvPr id="3" name="Rounded Rectangle 2">
            <a:extLst>
              <a:ext uri="{FF2B5EF4-FFF2-40B4-BE49-F238E27FC236}">
                <a16:creationId xmlns:a16="http://schemas.microsoft.com/office/drawing/2014/main" id="{64ACB2F9-7713-A142-A557-58754543C7A9}"/>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EMAIL ENQUIRY</a:t>
            </a:r>
          </a:p>
        </p:txBody>
      </p:sp>
      <p:sp>
        <p:nvSpPr>
          <p:cNvPr id="4" name="TextBox 3">
            <a:extLst>
              <a:ext uri="{FF2B5EF4-FFF2-40B4-BE49-F238E27FC236}">
                <a16:creationId xmlns:a16="http://schemas.microsoft.com/office/drawing/2014/main" id="{510AE560-109C-9D49-BE00-7ED11EF23A62}"/>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Trigger: a new email arrives</a:t>
            </a:r>
          </a:p>
        </p:txBody>
      </p:sp>
      <p:sp>
        <p:nvSpPr>
          <p:cNvPr id="5" name="Right Arrow 4">
            <a:extLst>
              <a:ext uri="{FF2B5EF4-FFF2-40B4-BE49-F238E27FC236}">
                <a16:creationId xmlns:a16="http://schemas.microsoft.com/office/drawing/2014/main" id="{39646F77-6EBF-9C44-929D-647B4917B259}"/>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EA985192-04F8-9049-8DF2-EDDD6809042F}"/>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READ DETAILS</a:t>
            </a:r>
          </a:p>
        </p:txBody>
      </p:sp>
      <p:sp>
        <p:nvSpPr>
          <p:cNvPr id="7" name="TextBox 6">
            <a:extLst>
              <a:ext uri="{FF2B5EF4-FFF2-40B4-BE49-F238E27FC236}">
                <a16:creationId xmlns:a16="http://schemas.microsoft.com/office/drawing/2014/main" id="{76128482-238C-A943-8663-270C2432DF4A}"/>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Extract sender, subject, request</a:t>
            </a:r>
          </a:p>
        </p:txBody>
      </p:sp>
      <p:sp>
        <p:nvSpPr>
          <p:cNvPr id="8" name="Right Arrow 7">
            <a:extLst>
              <a:ext uri="{FF2B5EF4-FFF2-40B4-BE49-F238E27FC236}">
                <a16:creationId xmlns:a16="http://schemas.microsoft.com/office/drawing/2014/main" id="{BB916068-A3F4-3942-B3A6-A133B0014DA6}"/>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55E62487-DC6C-DE4C-8CFA-1A4F355A099E}"/>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LOG TO EXCEL</a:t>
            </a:r>
          </a:p>
        </p:txBody>
      </p:sp>
      <p:sp>
        <p:nvSpPr>
          <p:cNvPr id="10" name="TextBox 9">
            <a:extLst>
              <a:ext uri="{FF2B5EF4-FFF2-40B4-BE49-F238E27FC236}">
                <a16:creationId xmlns:a16="http://schemas.microsoft.com/office/drawing/2014/main" id="{98D8FC07-0FFF-3B49-9B97-D3A734E85D93}"/>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Add a row to the enquiry table</a:t>
            </a:r>
          </a:p>
        </p:txBody>
      </p:sp>
      <p:sp>
        <p:nvSpPr>
          <p:cNvPr id="11" name="Right Arrow 10">
            <a:extLst>
              <a:ext uri="{FF2B5EF4-FFF2-40B4-BE49-F238E27FC236}">
                <a16:creationId xmlns:a16="http://schemas.microsoft.com/office/drawing/2014/main" id="{146AF005-AC64-B84D-BA2C-54A7F1635E01}"/>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40C48EF9-9852-9145-9C15-0AE5FBB177F0}"/>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NOTIFY TEAM</a:t>
            </a:r>
          </a:p>
        </p:txBody>
      </p:sp>
      <p:sp>
        <p:nvSpPr>
          <p:cNvPr id="13" name="TextBox 12">
            <a:extLst>
              <a:ext uri="{FF2B5EF4-FFF2-40B4-BE49-F238E27FC236}">
                <a16:creationId xmlns:a16="http://schemas.microsoft.com/office/drawing/2014/main" id="{85F4754E-3AEC-1241-8893-5E874B07A9BA}"/>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Send the sales team an email</a:t>
            </a:r>
          </a:p>
        </p:txBody>
      </p:sp>
      <p:sp>
        <p:nvSpPr>
          <p:cNvPr id="14" name="TextBox 13">
            <a:extLst>
              <a:ext uri="{FF2B5EF4-FFF2-40B4-BE49-F238E27FC236}">
                <a16:creationId xmlns:a16="http://schemas.microsoft.com/office/drawing/2014/main" id="{54552AC4-AEBB-C242-B1CB-68FCD393055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A customer enquiry is captured, recorded and routed — with no manual effort.</a:t>
            </a:r>
          </a:p>
        </p:txBody>
      </p:sp>
    </p:spTree>
    <p:extLst>
      <p:ext uri="{BB962C8B-B14F-4D97-AF65-F5344CB8AC3E}">
        <p14:creationId xmlns:p14="http://schemas.microsoft.com/office/powerpoint/2010/main" val="22705657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E06D2-B684-4C1B-EA5F-5826D681215C}"/>
              </a:ext>
            </a:extLst>
          </p:cNvPr>
          <p:cNvSpPr>
            <a:spLocks noGrp="1"/>
          </p:cNvSpPr>
          <p:nvPr>
            <p:ph type="title"/>
          </p:nvPr>
        </p:nvSpPr>
        <p:spPr/>
        <p:txBody>
          <a:bodyPr/>
          <a:lstStyle/>
          <a:p>
            <a:r>
              <a:rPr lang="en-US"/>
              <a:t>Lab 13 — Invoice Upload → Approval</a:t>
            </a:r>
          </a:p>
        </p:txBody>
      </p:sp>
      <p:sp>
        <p:nvSpPr>
          <p:cNvPr id="3" name="Rounded Rectangle 2">
            <a:extLst>
              <a:ext uri="{FF2B5EF4-FFF2-40B4-BE49-F238E27FC236}">
                <a16:creationId xmlns:a16="http://schemas.microsoft.com/office/drawing/2014/main" id="{51026C42-0038-3D43-A749-22E4E9C03382}"/>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UPLOAD INVOICE</a:t>
            </a:r>
          </a:p>
        </p:txBody>
      </p:sp>
      <p:sp>
        <p:nvSpPr>
          <p:cNvPr id="4" name="TextBox 3">
            <a:extLst>
              <a:ext uri="{FF2B5EF4-FFF2-40B4-BE49-F238E27FC236}">
                <a16:creationId xmlns:a16="http://schemas.microsoft.com/office/drawing/2014/main" id="{B2EE6BA0-5E6F-6147-B10B-0B26F6231B18}"/>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Trigger: file added to SharePoint</a:t>
            </a:r>
          </a:p>
        </p:txBody>
      </p:sp>
      <p:sp>
        <p:nvSpPr>
          <p:cNvPr id="5" name="Right Arrow 4">
            <a:extLst>
              <a:ext uri="{FF2B5EF4-FFF2-40B4-BE49-F238E27FC236}">
                <a16:creationId xmlns:a16="http://schemas.microsoft.com/office/drawing/2014/main" id="{C9F6CB04-EFC7-764B-86D7-42D7B086064E}"/>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C09CC8B8-9FD3-4D44-B862-74EF985C45C5}"/>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SEND FOR APPROVAL</a:t>
            </a:r>
          </a:p>
        </p:txBody>
      </p:sp>
      <p:sp>
        <p:nvSpPr>
          <p:cNvPr id="7" name="TextBox 6">
            <a:extLst>
              <a:ext uri="{FF2B5EF4-FFF2-40B4-BE49-F238E27FC236}">
                <a16:creationId xmlns:a16="http://schemas.microsoft.com/office/drawing/2014/main" id="{95A15440-656C-B64C-BB24-A8CD2E345554}"/>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Route to the approver</a:t>
            </a:r>
          </a:p>
        </p:txBody>
      </p:sp>
      <p:sp>
        <p:nvSpPr>
          <p:cNvPr id="8" name="Right Arrow 7">
            <a:extLst>
              <a:ext uri="{FF2B5EF4-FFF2-40B4-BE49-F238E27FC236}">
                <a16:creationId xmlns:a16="http://schemas.microsoft.com/office/drawing/2014/main" id="{AD9E391D-5602-AF4D-A4DB-E45CDF1D59E6}"/>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09AC4016-3D88-0D49-9771-96B363576D70}"/>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DECISION</a:t>
            </a:r>
          </a:p>
        </p:txBody>
      </p:sp>
      <p:sp>
        <p:nvSpPr>
          <p:cNvPr id="10" name="TextBox 9">
            <a:extLst>
              <a:ext uri="{FF2B5EF4-FFF2-40B4-BE49-F238E27FC236}">
                <a16:creationId xmlns:a16="http://schemas.microsoft.com/office/drawing/2014/main" id="{66827E3B-2B53-3B4A-80EE-BD6B47188512}"/>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Approve or reject</a:t>
            </a:r>
          </a:p>
        </p:txBody>
      </p:sp>
      <p:sp>
        <p:nvSpPr>
          <p:cNvPr id="11" name="Right Arrow 10">
            <a:extLst>
              <a:ext uri="{FF2B5EF4-FFF2-40B4-BE49-F238E27FC236}">
                <a16:creationId xmlns:a16="http://schemas.microsoft.com/office/drawing/2014/main" id="{85FE24C1-1813-1346-AC40-F7F2F70ED94F}"/>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A5ADEC81-E446-7B4C-941D-F1D3E0CCE908}"/>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RECORD &amp; NOTIFY</a:t>
            </a:r>
          </a:p>
        </p:txBody>
      </p:sp>
      <p:sp>
        <p:nvSpPr>
          <p:cNvPr id="13" name="TextBox 12">
            <a:extLst>
              <a:ext uri="{FF2B5EF4-FFF2-40B4-BE49-F238E27FC236}">
                <a16:creationId xmlns:a16="http://schemas.microsoft.com/office/drawing/2014/main" id="{12AD2A76-5B8C-8149-9629-800E231BC641}"/>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Log outcome, inform finance</a:t>
            </a:r>
          </a:p>
        </p:txBody>
      </p:sp>
      <p:sp>
        <p:nvSpPr>
          <p:cNvPr id="14" name="TextBox 13">
            <a:extLst>
              <a:ext uri="{FF2B5EF4-FFF2-40B4-BE49-F238E27FC236}">
                <a16:creationId xmlns:a16="http://schemas.microsoft.com/office/drawing/2014/main" id="{92798E01-446D-0048-918C-140F3BB8F8C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Every invoice follows the same controlled, auditable approval path.</a:t>
            </a:r>
          </a:p>
        </p:txBody>
      </p:sp>
    </p:spTree>
    <p:extLst>
      <p:ext uri="{BB962C8B-B14F-4D97-AF65-F5344CB8AC3E}">
        <p14:creationId xmlns:p14="http://schemas.microsoft.com/office/powerpoint/2010/main" val="389522645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C8669F-28B8-8232-7308-B6BD49ADC705}"/>
              </a:ext>
            </a:extLst>
          </p:cNvPr>
          <p:cNvSpPr>
            <a:spLocks noGrp="1"/>
          </p:cNvSpPr>
          <p:nvPr>
            <p:ph type="title"/>
          </p:nvPr>
        </p:nvSpPr>
        <p:spPr/>
        <p:txBody>
          <a:bodyPr/>
          <a:lstStyle/>
          <a:p>
            <a:r>
              <a:rPr lang="en-US"/>
              <a:t>Lab 14 — Purchase Request → Approval → Notification</a:t>
            </a:r>
          </a:p>
        </p:txBody>
      </p:sp>
      <p:sp>
        <p:nvSpPr>
          <p:cNvPr id="3" name="Rounded Rectangle 2">
            <a:extLst>
              <a:ext uri="{FF2B5EF4-FFF2-40B4-BE49-F238E27FC236}">
                <a16:creationId xmlns:a16="http://schemas.microsoft.com/office/drawing/2014/main" id="{7322F217-B3C5-2A43-B2A0-0499F0BA4277}"/>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REQUEST SUBMITTED</a:t>
            </a:r>
          </a:p>
        </p:txBody>
      </p:sp>
      <p:sp>
        <p:nvSpPr>
          <p:cNvPr id="4" name="TextBox 3">
            <a:extLst>
              <a:ext uri="{FF2B5EF4-FFF2-40B4-BE49-F238E27FC236}">
                <a16:creationId xmlns:a16="http://schemas.microsoft.com/office/drawing/2014/main" id="{F5DE7CF6-2295-BE4C-B1DE-9FE4CA1ECA8C}"/>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Trigger: a form is submitted</a:t>
            </a:r>
          </a:p>
        </p:txBody>
      </p:sp>
      <p:sp>
        <p:nvSpPr>
          <p:cNvPr id="5" name="Right Arrow 4">
            <a:extLst>
              <a:ext uri="{FF2B5EF4-FFF2-40B4-BE49-F238E27FC236}">
                <a16:creationId xmlns:a16="http://schemas.microsoft.com/office/drawing/2014/main" id="{4D3B28F3-702F-0840-9676-9A21FACA756A}"/>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37A7C15B-0790-464C-B79D-CB851769AF99}"/>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ROUTE TO MANAGER</a:t>
            </a:r>
          </a:p>
        </p:txBody>
      </p:sp>
      <p:sp>
        <p:nvSpPr>
          <p:cNvPr id="7" name="TextBox 6">
            <a:extLst>
              <a:ext uri="{FF2B5EF4-FFF2-40B4-BE49-F238E27FC236}">
                <a16:creationId xmlns:a16="http://schemas.microsoft.com/office/drawing/2014/main" id="{CD6D8C5E-6D36-7E41-9426-C48D3D011EBB}"/>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Send approval to the manager</a:t>
            </a:r>
          </a:p>
        </p:txBody>
      </p:sp>
      <p:sp>
        <p:nvSpPr>
          <p:cNvPr id="8" name="Right Arrow 7">
            <a:extLst>
              <a:ext uri="{FF2B5EF4-FFF2-40B4-BE49-F238E27FC236}">
                <a16:creationId xmlns:a16="http://schemas.microsoft.com/office/drawing/2014/main" id="{DF4581CD-02EC-2A4B-99FD-D5778889E7A3}"/>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10AB1CD0-E6F1-854D-99BB-61292BAA737F}"/>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MANAGER APPROVES</a:t>
            </a:r>
          </a:p>
        </p:txBody>
      </p:sp>
      <p:sp>
        <p:nvSpPr>
          <p:cNvPr id="10" name="TextBox 9">
            <a:extLst>
              <a:ext uri="{FF2B5EF4-FFF2-40B4-BE49-F238E27FC236}">
                <a16:creationId xmlns:a16="http://schemas.microsoft.com/office/drawing/2014/main" id="{A7F36110-EF9A-AF44-8D85-75855C02A605}"/>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Approve or reject the request</a:t>
            </a:r>
          </a:p>
        </p:txBody>
      </p:sp>
      <p:sp>
        <p:nvSpPr>
          <p:cNvPr id="11" name="Right Arrow 10">
            <a:extLst>
              <a:ext uri="{FF2B5EF4-FFF2-40B4-BE49-F238E27FC236}">
                <a16:creationId xmlns:a16="http://schemas.microsoft.com/office/drawing/2014/main" id="{A3B86A8D-0D20-3C4E-A4DC-F5FFC289E05A}"/>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C84258EC-B6AB-3B49-B4CB-591458A07B93}"/>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NOTIFY REQUESTER</a:t>
            </a:r>
          </a:p>
        </p:txBody>
      </p:sp>
      <p:sp>
        <p:nvSpPr>
          <p:cNvPr id="13" name="TextBox 12">
            <a:extLst>
              <a:ext uri="{FF2B5EF4-FFF2-40B4-BE49-F238E27FC236}">
                <a16:creationId xmlns:a16="http://schemas.microsoft.com/office/drawing/2014/main" id="{F4EB9FF3-AD8F-E248-BA94-CC782E3779EA}"/>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Confirm outcome and log it</a:t>
            </a:r>
          </a:p>
        </p:txBody>
      </p:sp>
      <p:sp>
        <p:nvSpPr>
          <p:cNvPr id="14" name="TextBox 13">
            <a:extLst>
              <a:ext uri="{FF2B5EF4-FFF2-40B4-BE49-F238E27FC236}">
                <a16:creationId xmlns:a16="http://schemas.microsoft.com/office/drawing/2014/main" id="{2C29CFEA-6FE6-9B43-B85D-5DD110AB5DA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A purchase request is routed, approved and confirmed end to end.</a:t>
            </a:r>
          </a:p>
        </p:txBody>
      </p:sp>
    </p:spTree>
    <p:extLst>
      <p:ext uri="{BB962C8B-B14F-4D97-AF65-F5344CB8AC3E}">
        <p14:creationId xmlns:p14="http://schemas.microsoft.com/office/powerpoint/2010/main" val="133935751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34C532-9A83-A31D-7A7E-F78038EDF121}"/>
              </a:ext>
            </a:extLst>
          </p:cNvPr>
          <p:cNvSpPr>
            <a:spLocks noGrp="1"/>
          </p:cNvSpPr>
          <p:nvPr>
            <p:ph type="title"/>
          </p:nvPr>
        </p:nvSpPr>
        <p:spPr/>
        <p:txBody>
          <a:bodyPr/>
          <a:lstStyle/>
          <a:p>
            <a:r>
              <a:rPr lang="en-US"/>
              <a:t>Module 4 Recap</a:t>
            </a:r>
          </a:p>
        </p:txBody>
      </p:sp>
      <p:sp>
        <p:nvSpPr>
          <p:cNvPr id="3" name="Content Placeholder 2">
            <a:extLst>
              <a:ext uri="{FF2B5EF4-FFF2-40B4-BE49-F238E27FC236}">
                <a16:creationId xmlns:a16="http://schemas.microsoft.com/office/drawing/2014/main" id="{A05B6A36-EB52-051E-719B-C37632BCB71D}"/>
              </a:ext>
            </a:extLst>
          </p:cNvPr>
          <p:cNvSpPr>
            <a:spLocks noGrp="1"/>
          </p:cNvSpPr>
          <p:nvPr>
            <p:ph idx="1"/>
          </p:nvPr>
        </p:nvSpPr>
        <p:spPr/>
        <p:txBody>
          <a:bodyPr>
            <a:normAutofit/>
          </a:bodyPr>
          <a:lstStyle/>
          <a:p>
            <a:r>
              <a:rPr lang="en-US" sz="1800"/>
              <a:t>Agents and flows combine into complete business processes
Orchestration sequences, branches and chains the steps
Plan outputs and next steps so work flows on automatically
Handle errors and monitor runs to stay reliable
You saw four real workflows — and Order Processing — from trigger to result</a:t>
            </a:r>
          </a:p>
        </p:txBody>
      </p:sp>
    </p:spTree>
    <p:extLst>
      <p:ext uri="{BB962C8B-B14F-4D97-AF65-F5344CB8AC3E}">
        <p14:creationId xmlns:p14="http://schemas.microsoft.com/office/powerpoint/2010/main" val="299284728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EBA00-D067-C868-BD69-750A73377203}"/>
              </a:ext>
            </a:extLst>
          </p:cNvPr>
          <p:cNvSpPr>
            <a:spLocks noGrp="1"/>
          </p:cNvSpPr>
          <p:nvPr>
            <p:ph type="title"/>
          </p:nvPr>
        </p:nvSpPr>
        <p:spPr/>
        <p:txBody>
          <a:bodyPr/>
          <a:lstStyle/>
          <a:p>
            <a:r>
              <a:rPr lang="en-US"/>
              <a:t>Module 5 · Business Workflow Workshop</a:t>
            </a:r>
          </a:p>
        </p:txBody>
      </p:sp>
      <p:sp>
        <p:nvSpPr>
          <p:cNvPr id="3" name="Text Placeholder 2">
            <a:extLst>
              <a:ext uri="{FF2B5EF4-FFF2-40B4-BE49-F238E27FC236}">
                <a16:creationId xmlns:a16="http://schemas.microsoft.com/office/drawing/2014/main" id="{26717F27-B77C-ADE7-256B-D474F90AF915}"/>
              </a:ext>
            </a:extLst>
          </p:cNvPr>
          <p:cNvSpPr>
            <a:spLocks noGrp="1"/>
          </p:cNvSpPr>
          <p:nvPr>
            <p:ph type="body" idx="1"/>
          </p:nvPr>
        </p:nvSpPr>
        <p:spPr/>
        <p:txBody>
          <a:bodyPr>
            <a:normAutofit/>
          </a:bodyPr>
          <a:lstStyle/>
          <a:p>
            <a:r>
              <a:rPr lang="en-US" sz="1800" b="1">
                <a:solidFill>
                  <a:srgbClr val="7C3AED"/>
                </a:solidFill>
              </a:rPr>
              <a:t>Put it all together — build a real end-to-end workflow</a:t>
            </a:r>
          </a:p>
        </p:txBody>
      </p:sp>
    </p:spTree>
    <p:extLst>
      <p:ext uri="{BB962C8B-B14F-4D97-AF65-F5344CB8AC3E}">
        <p14:creationId xmlns:p14="http://schemas.microsoft.com/office/powerpoint/2010/main" val="12167353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510BF0-62E8-02C4-BD0D-8EACA32C19C8}"/>
              </a:ext>
            </a:extLst>
          </p:cNvPr>
          <p:cNvSpPr>
            <a:spLocks noGrp="1"/>
          </p:cNvSpPr>
          <p:nvPr>
            <p:ph type="title"/>
          </p:nvPr>
        </p:nvSpPr>
        <p:spPr/>
        <p:txBody>
          <a:bodyPr/>
          <a:lstStyle/>
          <a:p>
            <a:r>
              <a:rPr lang="en-US"/>
              <a:t>Workshop Overview</a:t>
            </a:r>
          </a:p>
        </p:txBody>
      </p:sp>
      <p:sp>
        <p:nvSpPr>
          <p:cNvPr id="3" name="Content Placeholder 2">
            <a:extLst>
              <a:ext uri="{FF2B5EF4-FFF2-40B4-BE49-F238E27FC236}">
                <a16:creationId xmlns:a16="http://schemas.microsoft.com/office/drawing/2014/main" id="{1C7B9D00-1350-7F51-4F13-5915A319FE90}"/>
              </a:ext>
            </a:extLst>
          </p:cNvPr>
          <p:cNvSpPr>
            <a:spLocks noGrp="1"/>
          </p:cNvSpPr>
          <p:nvPr>
            <p:ph idx="1"/>
          </p:nvPr>
        </p:nvSpPr>
        <p:spPr/>
        <p:txBody>
          <a:bodyPr>
            <a:normAutofit/>
          </a:bodyPr>
          <a:lstStyle/>
          <a:p>
            <a:r>
              <a:rPr lang="en-US" sz="1800"/>
              <a:t>Your Lab 16 capstone: build a practical, end-to-end workflow
Choose a track: Sales, Finance, Procurement or Order Processing
Combine an agent and one or more Power Automate flows
Use the patterns and labs from the past three days
Demo your working solution at the end</a:t>
            </a:r>
          </a:p>
        </p:txBody>
      </p:sp>
    </p:spTree>
    <p:extLst>
      <p:ext uri="{BB962C8B-B14F-4D97-AF65-F5344CB8AC3E}">
        <p14:creationId xmlns:p14="http://schemas.microsoft.com/office/powerpoint/2010/main" val="19831639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06D309-2D11-720F-BD8D-54ADFAE44193}"/>
              </a:ext>
            </a:extLst>
          </p:cNvPr>
          <p:cNvSpPr>
            <a:spLocks noGrp="1"/>
          </p:cNvSpPr>
          <p:nvPr>
            <p:ph type="title"/>
          </p:nvPr>
        </p:nvSpPr>
        <p:spPr/>
        <p:txBody>
          <a:bodyPr/>
          <a:lstStyle/>
          <a:p>
            <a:r>
              <a:rPr lang="en-US"/>
              <a:t>How the Workshop Works</a:t>
            </a:r>
          </a:p>
        </p:txBody>
      </p:sp>
      <p:sp>
        <p:nvSpPr>
          <p:cNvPr id="3" name="Content Placeholder 2">
            <a:extLst>
              <a:ext uri="{FF2B5EF4-FFF2-40B4-BE49-F238E27FC236}">
                <a16:creationId xmlns:a16="http://schemas.microsoft.com/office/drawing/2014/main" id="{D0C9DA5F-3EF2-4E2D-4CBA-CCAD55185269}"/>
              </a:ext>
            </a:extLst>
          </p:cNvPr>
          <p:cNvSpPr>
            <a:spLocks noGrp="1"/>
          </p:cNvSpPr>
          <p:nvPr>
            <p:ph idx="1"/>
          </p:nvPr>
        </p:nvSpPr>
        <p:spPr/>
        <p:txBody>
          <a:bodyPr>
            <a:normAutofit/>
          </a:bodyPr>
          <a:lstStyle/>
          <a:p>
            <a:r>
              <a:rPr lang="en-US" sz="1800"/>
              <a:t>Work solo or in small teams
Pick a track and sketch the workflow: trigger → actions → output
Build it: create the flow, add an agent where it helps
Test with realistic data and fix what breaks
Present: show the trigger, the steps and the result</a:t>
            </a:r>
          </a:p>
        </p:txBody>
      </p:sp>
    </p:spTree>
    <p:extLst>
      <p:ext uri="{BB962C8B-B14F-4D97-AF65-F5344CB8AC3E}">
        <p14:creationId xmlns:p14="http://schemas.microsoft.com/office/powerpoint/2010/main" val="3589608900"/>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FB1C71-98F9-1E58-B9CC-1D73738E4149}"/>
              </a:ext>
            </a:extLst>
          </p:cNvPr>
          <p:cNvSpPr>
            <a:spLocks noGrp="1"/>
          </p:cNvSpPr>
          <p:nvPr>
            <p:ph type="title"/>
          </p:nvPr>
        </p:nvSpPr>
        <p:spPr/>
        <p:txBody>
          <a:bodyPr/>
          <a:lstStyle/>
          <a:p>
            <a:r>
              <a:rPr lang="en-US"/>
              <a:t>Track A — Sales</a:t>
            </a:r>
          </a:p>
        </p:txBody>
      </p:sp>
      <p:sp>
        <p:nvSpPr>
          <p:cNvPr id="3" name="Content Placeholder 2">
            <a:extLst>
              <a:ext uri="{FF2B5EF4-FFF2-40B4-BE49-F238E27FC236}">
                <a16:creationId xmlns:a16="http://schemas.microsoft.com/office/drawing/2014/main" id="{D5E98FF7-C3E4-3CD0-E5CD-3A2D1DAB6140}"/>
              </a:ext>
            </a:extLst>
          </p:cNvPr>
          <p:cNvSpPr>
            <a:spLocks noGrp="1"/>
          </p:cNvSpPr>
          <p:nvPr>
            <p:ph sz="half" idx="1"/>
          </p:nvPr>
        </p:nvSpPr>
        <p:spPr/>
        <p:txBody>
          <a:bodyPr>
            <a:normAutofit/>
          </a:bodyPr>
          <a:lstStyle/>
          <a:p>
            <a:r>
              <a:rPr lang="en-US" sz="1600"/>
              <a:t>SCENARIO
Capture inbound sales enquiries,
log them, and reply automatically.
OUTPUT
A logged lead and a tailored response</a:t>
            </a:r>
          </a:p>
        </p:txBody>
      </p:sp>
      <p:sp>
        <p:nvSpPr>
          <p:cNvPr id="4" name="Content Placeholder 3">
            <a:extLst>
              <a:ext uri="{FF2B5EF4-FFF2-40B4-BE49-F238E27FC236}">
                <a16:creationId xmlns:a16="http://schemas.microsoft.com/office/drawing/2014/main" id="{D7B1CB0A-92CE-4E80-9D8A-8E99136ADFD9}"/>
              </a:ext>
            </a:extLst>
          </p:cNvPr>
          <p:cNvSpPr>
            <a:spLocks noGrp="1"/>
          </p:cNvSpPr>
          <p:nvPr>
            <p:ph sz="half" idx="2"/>
          </p:nvPr>
        </p:nvSpPr>
        <p:spPr/>
        <p:txBody>
          <a:bodyPr>
            <a:normAutofit/>
          </a:bodyPr>
          <a:lstStyle/>
          <a:p>
            <a:r>
              <a:rPr lang="en-US" sz="1600"/>
              <a:t>BUILD IT
Agent: extract customer, product, quantity
Flow: add a row to the leads table
Flow: send a personalised reply
Notify the sales team in Teams
Test with three sample enquiries</a:t>
            </a:r>
          </a:p>
        </p:txBody>
      </p:sp>
    </p:spTree>
    <p:extLst>
      <p:ext uri="{BB962C8B-B14F-4D97-AF65-F5344CB8AC3E}">
        <p14:creationId xmlns:p14="http://schemas.microsoft.com/office/powerpoint/2010/main" val="1487444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95FE35-BD0B-B87D-1C03-09535E998116}"/>
              </a:ext>
            </a:extLst>
          </p:cNvPr>
          <p:cNvSpPr>
            <a:spLocks noGrp="1"/>
          </p:cNvSpPr>
          <p:nvPr>
            <p:ph type="title"/>
          </p:nvPr>
        </p:nvSpPr>
        <p:spPr/>
        <p:txBody>
          <a:bodyPr/>
          <a:lstStyle/>
          <a:p>
            <a:r>
              <a:rPr lang="en-US"/>
              <a:t>Track B — Finance</a:t>
            </a:r>
          </a:p>
        </p:txBody>
      </p:sp>
      <p:sp>
        <p:nvSpPr>
          <p:cNvPr id="3" name="Content Placeholder 2">
            <a:extLst>
              <a:ext uri="{FF2B5EF4-FFF2-40B4-BE49-F238E27FC236}">
                <a16:creationId xmlns:a16="http://schemas.microsoft.com/office/drawing/2014/main" id="{A9E3D5A1-E013-9E92-7C37-E92D0D24AF57}"/>
              </a:ext>
            </a:extLst>
          </p:cNvPr>
          <p:cNvSpPr>
            <a:spLocks noGrp="1"/>
          </p:cNvSpPr>
          <p:nvPr>
            <p:ph sz="half" idx="1"/>
          </p:nvPr>
        </p:nvSpPr>
        <p:spPr/>
        <p:txBody>
          <a:bodyPr>
            <a:normAutofit/>
          </a:bodyPr>
          <a:lstStyle/>
          <a:p>
            <a:r>
              <a:rPr lang="en-US" sz="1600"/>
              <a:t>SCENARIO
Process uploaded invoices through
an approval and record the outcome.
OUTPUT
An approved invoice with an audit trail</a:t>
            </a:r>
          </a:p>
        </p:txBody>
      </p:sp>
      <p:sp>
        <p:nvSpPr>
          <p:cNvPr id="4" name="Content Placeholder 3">
            <a:extLst>
              <a:ext uri="{FF2B5EF4-FFF2-40B4-BE49-F238E27FC236}">
                <a16:creationId xmlns:a16="http://schemas.microsoft.com/office/drawing/2014/main" id="{FB83B344-9A0C-B52B-1A5A-F215861222DC}"/>
              </a:ext>
            </a:extLst>
          </p:cNvPr>
          <p:cNvSpPr>
            <a:spLocks noGrp="1"/>
          </p:cNvSpPr>
          <p:nvPr>
            <p:ph sz="half" idx="2"/>
          </p:nvPr>
        </p:nvSpPr>
        <p:spPr/>
        <p:txBody>
          <a:bodyPr>
            <a:normAutofit/>
          </a:bodyPr>
          <a:lstStyle/>
          <a:p>
            <a:r>
              <a:rPr lang="en-US" sz="1600"/>
              <a:t>BUILD IT
Trigger: invoice uploaded to SharePoint
Flow: start and wait for approval
Branch on approve / reject
Record the decision in Excel
Email finance the outcome</a:t>
            </a:r>
          </a:p>
        </p:txBody>
      </p:sp>
    </p:spTree>
    <p:extLst>
      <p:ext uri="{BB962C8B-B14F-4D97-AF65-F5344CB8AC3E}">
        <p14:creationId xmlns:p14="http://schemas.microsoft.com/office/powerpoint/2010/main" val="940827506"/>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ACBD62-39B4-D02B-6516-8BC9FD2EB11A}"/>
              </a:ext>
            </a:extLst>
          </p:cNvPr>
          <p:cNvSpPr>
            <a:spLocks noGrp="1"/>
          </p:cNvSpPr>
          <p:nvPr>
            <p:ph type="title"/>
          </p:nvPr>
        </p:nvSpPr>
        <p:spPr/>
        <p:txBody>
          <a:bodyPr/>
          <a:lstStyle/>
          <a:p>
            <a:r>
              <a:rPr lang="en-US"/>
              <a:t>Track C — Procurement</a:t>
            </a:r>
          </a:p>
        </p:txBody>
      </p:sp>
      <p:sp>
        <p:nvSpPr>
          <p:cNvPr id="3" name="Content Placeholder 2">
            <a:extLst>
              <a:ext uri="{FF2B5EF4-FFF2-40B4-BE49-F238E27FC236}">
                <a16:creationId xmlns:a16="http://schemas.microsoft.com/office/drawing/2014/main" id="{F98C2358-729D-C5DB-A16F-F52AC077F353}"/>
              </a:ext>
            </a:extLst>
          </p:cNvPr>
          <p:cNvSpPr>
            <a:spLocks noGrp="1"/>
          </p:cNvSpPr>
          <p:nvPr>
            <p:ph sz="half" idx="1"/>
          </p:nvPr>
        </p:nvSpPr>
        <p:spPr/>
        <p:txBody>
          <a:bodyPr>
            <a:normAutofit/>
          </a:bodyPr>
          <a:lstStyle/>
          <a:p>
            <a:r>
              <a:rPr lang="en-US" sz="1600"/>
              <a:t>SCENARIO
Take purchase requests, route them
to a manager, and confirm.
OUTPUT
A routed, approved purchase request</a:t>
            </a:r>
          </a:p>
        </p:txBody>
      </p:sp>
      <p:sp>
        <p:nvSpPr>
          <p:cNvPr id="4" name="Content Placeholder 3">
            <a:extLst>
              <a:ext uri="{FF2B5EF4-FFF2-40B4-BE49-F238E27FC236}">
                <a16:creationId xmlns:a16="http://schemas.microsoft.com/office/drawing/2014/main" id="{E1FE476B-D558-5A5C-E26F-8D3AA7EB599F}"/>
              </a:ext>
            </a:extLst>
          </p:cNvPr>
          <p:cNvSpPr>
            <a:spLocks noGrp="1"/>
          </p:cNvSpPr>
          <p:nvPr>
            <p:ph sz="half" idx="2"/>
          </p:nvPr>
        </p:nvSpPr>
        <p:spPr/>
        <p:txBody>
          <a:bodyPr>
            <a:normAutofit/>
          </a:bodyPr>
          <a:lstStyle/>
          <a:p>
            <a:r>
              <a:rPr lang="en-US" sz="1600"/>
              <a:t>BUILD IT
Agent or form: capture request details
Flow: route to the manager for approval
Branch on the decision
Log the request and its status
Notify the requester of the outcome</a:t>
            </a:r>
          </a:p>
        </p:txBody>
      </p:sp>
    </p:spTree>
    <p:extLst>
      <p:ext uri="{BB962C8B-B14F-4D97-AF65-F5344CB8AC3E}">
        <p14:creationId xmlns:p14="http://schemas.microsoft.com/office/powerpoint/2010/main" val="220187494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B41813-082D-7443-F837-5373C57957F0}"/>
              </a:ext>
            </a:extLst>
          </p:cNvPr>
          <p:cNvSpPr>
            <a:spLocks noGrp="1"/>
          </p:cNvSpPr>
          <p:nvPr>
            <p:ph type="title"/>
          </p:nvPr>
        </p:nvSpPr>
        <p:spPr/>
        <p:txBody>
          <a:bodyPr/>
          <a:lstStyle/>
          <a:p>
            <a:r>
              <a:rPr lang="en-US"/>
              <a:t>Track D — Order Processing</a:t>
            </a:r>
          </a:p>
        </p:txBody>
      </p:sp>
      <p:sp>
        <p:nvSpPr>
          <p:cNvPr id="3" name="Content Placeholder 2">
            <a:extLst>
              <a:ext uri="{FF2B5EF4-FFF2-40B4-BE49-F238E27FC236}">
                <a16:creationId xmlns:a16="http://schemas.microsoft.com/office/drawing/2014/main" id="{6E5B7CC6-98F4-1BD5-62CE-844B7337B969}"/>
              </a:ext>
            </a:extLst>
          </p:cNvPr>
          <p:cNvSpPr>
            <a:spLocks noGrp="1"/>
          </p:cNvSpPr>
          <p:nvPr>
            <p:ph sz="half" idx="1"/>
          </p:nvPr>
        </p:nvSpPr>
        <p:spPr/>
        <p:txBody>
          <a:bodyPr>
            <a:normAutofit/>
          </a:bodyPr>
          <a:lstStyle/>
          <a:p>
            <a:r>
              <a:rPr lang="en-US" sz="1600"/>
              <a:t>SCENARIO
Turn submitted orders into logged,
confirmed and fulfilled records.
OUTPUT
A confirmed order and a clean log</a:t>
            </a:r>
          </a:p>
        </p:txBody>
      </p:sp>
      <p:sp>
        <p:nvSpPr>
          <p:cNvPr id="4" name="Content Placeholder 3">
            <a:extLst>
              <a:ext uri="{FF2B5EF4-FFF2-40B4-BE49-F238E27FC236}">
                <a16:creationId xmlns:a16="http://schemas.microsoft.com/office/drawing/2014/main" id="{71A2F846-BD07-B5C4-EEFF-B689983BBF9F}"/>
              </a:ext>
            </a:extLst>
          </p:cNvPr>
          <p:cNvSpPr>
            <a:spLocks noGrp="1"/>
          </p:cNvSpPr>
          <p:nvPr>
            <p:ph sz="half" idx="2"/>
          </p:nvPr>
        </p:nvSpPr>
        <p:spPr/>
        <p:txBody>
          <a:bodyPr>
            <a:normAutofit/>
          </a:bodyPr>
          <a:lstStyle/>
          <a:p>
            <a:r>
              <a:rPr lang="en-US" sz="1600"/>
              <a:t>BUILD IT
Trigger: an order form is submitted
Flow: log the order to Excel
Flow: send an order confirmation
Notify fulfilment / operations
Flag large orders for approval first</a:t>
            </a:r>
          </a:p>
        </p:txBody>
      </p:sp>
    </p:spTree>
    <p:extLst>
      <p:ext uri="{BB962C8B-B14F-4D97-AF65-F5344CB8AC3E}">
        <p14:creationId xmlns:p14="http://schemas.microsoft.com/office/powerpoint/2010/main" val="739374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F62778-87DE-3313-58A3-1BC38555DC61}"/>
              </a:ext>
            </a:extLst>
          </p:cNvPr>
          <p:cNvSpPr>
            <a:spLocks noGrp="1"/>
          </p:cNvSpPr>
          <p:nvPr>
            <p:ph type="title"/>
          </p:nvPr>
        </p:nvSpPr>
        <p:spPr/>
        <p:txBody>
          <a:bodyPr/>
          <a:lstStyle/>
          <a:p>
            <a:r>
              <a:rPr lang="en-US"/>
              <a:t>Build Guidelines &amp; Success Criteria</a:t>
            </a:r>
          </a:p>
        </p:txBody>
      </p:sp>
      <p:sp>
        <p:nvSpPr>
          <p:cNvPr id="3" name="Content Placeholder 2">
            <a:extLst>
              <a:ext uri="{FF2B5EF4-FFF2-40B4-BE49-F238E27FC236}">
                <a16:creationId xmlns:a16="http://schemas.microsoft.com/office/drawing/2014/main" id="{5713F4E9-4D54-09A6-B010-2CC22CD7C6BA}"/>
              </a:ext>
            </a:extLst>
          </p:cNvPr>
          <p:cNvSpPr>
            <a:spLocks noGrp="1"/>
          </p:cNvSpPr>
          <p:nvPr>
            <p:ph idx="1"/>
          </p:nvPr>
        </p:nvSpPr>
        <p:spPr/>
        <p:txBody>
          <a:bodyPr>
            <a:normAutofit/>
          </a:bodyPr>
          <a:lstStyle/>
          <a:p>
            <a:r>
              <a:rPr lang="en-US" sz="1800"/>
              <a:t>Start simple — get one trigger and one action working first
Name your flow clearly and add a short description
Use realistic test data before going live
Success = the right output happens automatically, every time
Bonus: add a notification and an error path</a:t>
            </a:r>
          </a:p>
        </p:txBody>
      </p:sp>
    </p:spTree>
    <p:extLst>
      <p:ext uri="{BB962C8B-B14F-4D97-AF65-F5344CB8AC3E}">
        <p14:creationId xmlns:p14="http://schemas.microsoft.com/office/powerpoint/2010/main" val="288151544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739FD-1A56-2880-C640-B81C61871D59}"/>
              </a:ext>
            </a:extLst>
          </p:cNvPr>
          <p:cNvSpPr>
            <a:spLocks noGrp="1"/>
          </p:cNvSpPr>
          <p:nvPr>
            <p:ph type="title"/>
          </p:nvPr>
        </p:nvSpPr>
        <p:spPr/>
        <p:txBody>
          <a:bodyPr/>
          <a:lstStyle/>
          <a:p>
            <a:r>
              <a:rPr lang="en-US"/>
              <a:t>Present &amp; Get Feedback</a:t>
            </a:r>
          </a:p>
        </p:txBody>
      </p:sp>
      <p:sp>
        <p:nvSpPr>
          <p:cNvPr id="3" name="Content Placeholder 2">
            <a:extLst>
              <a:ext uri="{FF2B5EF4-FFF2-40B4-BE49-F238E27FC236}">
                <a16:creationId xmlns:a16="http://schemas.microsoft.com/office/drawing/2014/main" id="{941948D6-A375-C996-8CCE-99FF9226F73C}"/>
              </a:ext>
            </a:extLst>
          </p:cNvPr>
          <p:cNvSpPr>
            <a:spLocks noGrp="1"/>
          </p:cNvSpPr>
          <p:nvPr>
            <p:ph idx="1"/>
          </p:nvPr>
        </p:nvSpPr>
        <p:spPr/>
        <p:txBody>
          <a:bodyPr>
            <a:normAutofit/>
          </a:bodyPr>
          <a:lstStyle/>
          <a:p>
            <a:r>
              <a:rPr lang="en-US" sz="1800"/>
              <a:t>Show the business problem you solved
Walk through the trigger, key actions and output
Run it live, or show a recent successful run
Share one thing that was tricky and how you fixed it
Capture ideas to extend it further</a:t>
            </a:r>
          </a:p>
        </p:txBody>
      </p:sp>
    </p:spTree>
    <p:extLst>
      <p:ext uri="{BB962C8B-B14F-4D97-AF65-F5344CB8AC3E}">
        <p14:creationId xmlns:p14="http://schemas.microsoft.com/office/powerpoint/2010/main" val="381523405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2DF2F9-984B-A755-BAA7-933929938195}"/>
              </a:ext>
            </a:extLst>
          </p:cNvPr>
          <p:cNvSpPr>
            <a:spLocks noGrp="1"/>
          </p:cNvSpPr>
          <p:nvPr>
            <p:ph type="title"/>
          </p:nvPr>
        </p:nvSpPr>
        <p:spPr/>
        <p:txBody>
          <a:bodyPr/>
          <a:lstStyle/>
          <a:p>
            <a:r>
              <a:rPr lang="en-US"/>
              <a:t>What You Can Automate Next</a:t>
            </a:r>
          </a:p>
        </p:txBody>
      </p:sp>
      <p:sp>
        <p:nvSpPr>
          <p:cNvPr id="3" name="Content Placeholder 2">
            <a:extLst>
              <a:ext uri="{FF2B5EF4-FFF2-40B4-BE49-F238E27FC236}">
                <a16:creationId xmlns:a16="http://schemas.microsoft.com/office/drawing/2014/main" id="{5CCF4860-8303-9DF0-5924-44910D4B4C5F}"/>
              </a:ext>
            </a:extLst>
          </p:cNvPr>
          <p:cNvSpPr>
            <a:spLocks noGrp="1"/>
          </p:cNvSpPr>
          <p:nvPr>
            <p:ph idx="1"/>
          </p:nvPr>
        </p:nvSpPr>
        <p:spPr/>
        <p:txBody>
          <a:bodyPr>
            <a:normAutofit/>
          </a:bodyPr>
          <a:lstStyle/>
          <a:p>
            <a:r>
              <a:rPr lang="en-US" sz="1800"/>
              <a:t>Onboarding: new-hire checklists and welcome emails
Reporting: scheduled data pulls and summaries
Helpdesk: triage and route incoming requests
Document handling: filing, approvals and reminders
Anywhere people copy data or chase approvals by hand</a:t>
            </a:r>
          </a:p>
        </p:txBody>
      </p:sp>
    </p:spTree>
    <p:extLst>
      <p:ext uri="{BB962C8B-B14F-4D97-AF65-F5344CB8AC3E}">
        <p14:creationId xmlns:p14="http://schemas.microsoft.com/office/powerpoint/2010/main" val="405735589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49BD2-2DB5-77C8-285D-9067CB1F67DF}"/>
              </a:ext>
            </a:extLst>
          </p:cNvPr>
          <p:cNvSpPr>
            <a:spLocks noGrp="1"/>
          </p:cNvSpPr>
          <p:nvPr>
            <p:ph type="title"/>
          </p:nvPr>
        </p:nvSpPr>
        <p:spPr/>
        <p:txBody>
          <a:bodyPr/>
          <a:lstStyle/>
          <a:p>
            <a:r>
              <a:rPr lang="en-US"/>
              <a:t>Common Pitfalls to Avoid</a:t>
            </a:r>
          </a:p>
        </p:txBody>
      </p:sp>
      <p:sp>
        <p:nvSpPr>
          <p:cNvPr id="3" name="Content Placeholder 2">
            <a:extLst>
              <a:ext uri="{FF2B5EF4-FFF2-40B4-BE49-F238E27FC236}">
                <a16:creationId xmlns:a16="http://schemas.microsoft.com/office/drawing/2014/main" id="{C26A95F9-E88D-D0F4-A860-1BA06E232A45}"/>
              </a:ext>
            </a:extLst>
          </p:cNvPr>
          <p:cNvSpPr>
            <a:spLocks noGrp="1"/>
          </p:cNvSpPr>
          <p:nvPr>
            <p:ph idx="1"/>
          </p:nvPr>
        </p:nvSpPr>
        <p:spPr/>
        <p:txBody>
          <a:bodyPr>
            <a:normAutofit/>
          </a:bodyPr>
          <a:lstStyle/>
          <a:p>
            <a:r>
              <a:rPr lang="en-US" sz="1800"/>
              <a:t>Automating a broken process — fix the process first
Trying to build everything in one giant flow
Skipping tests, then surprises in production
No error handling — failures go unnoticed
Vague agent prompts that return inconsistent data</a:t>
            </a:r>
          </a:p>
        </p:txBody>
      </p:sp>
    </p:spTree>
    <p:extLst>
      <p:ext uri="{BB962C8B-B14F-4D97-AF65-F5344CB8AC3E}">
        <p14:creationId xmlns:p14="http://schemas.microsoft.com/office/powerpoint/2010/main" val="178795793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2B063-FE71-8DB0-46FB-13E6AB1CEA40}"/>
              </a:ext>
            </a:extLst>
          </p:cNvPr>
          <p:cNvSpPr>
            <a:spLocks noGrp="1"/>
          </p:cNvSpPr>
          <p:nvPr>
            <p:ph type="title"/>
          </p:nvPr>
        </p:nvSpPr>
        <p:spPr/>
        <p:txBody>
          <a:bodyPr/>
          <a:lstStyle/>
          <a:p>
            <a:r>
              <a:rPr lang="en-US"/>
              <a:t>Governance &amp; Security Basics</a:t>
            </a:r>
          </a:p>
        </p:txBody>
      </p:sp>
      <p:sp>
        <p:nvSpPr>
          <p:cNvPr id="3" name="Content Placeholder 2">
            <a:extLst>
              <a:ext uri="{FF2B5EF4-FFF2-40B4-BE49-F238E27FC236}">
                <a16:creationId xmlns:a16="http://schemas.microsoft.com/office/drawing/2014/main" id="{45B09298-679E-BC7E-0C15-59E0B78D509B}"/>
              </a:ext>
            </a:extLst>
          </p:cNvPr>
          <p:cNvSpPr>
            <a:spLocks noGrp="1"/>
          </p:cNvSpPr>
          <p:nvPr>
            <p:ph idx="1"/>
          </p:nvPr>
        </p:nvSpPr>
        <p:spPr/>
        <p:txBody>
          <a:bodyPr>
            <a:normAutofit/>
          </a:bodyPr>
          <a:lstStyle/>
          <a:p>
            <a:r>
              <a:rPr lang="en-US" sz="1800"/>
              <a:t>Use connections and permissions you're authorised to use
Keep sensitive data out of emails and logs where possible
Follow your organisation's data and approval policies
Document what each flow does and who owns it
Review and retire flows that are no longer needed</a:t>
            </a:r>
          </a:p>
        </p:txBody>
      </p:sp>
    </p:spTree>
    <p:extLst>
      <p:ext uri="{BB962C8B-B14F-4D97-AF65-F5344CB8AC3E}">
        <p14:creationId xmlns:p14="http://schemas.microsoft.com/office/powerpoint/2010/main" val="226233578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59F0DE-8506-42F9-AD61-C1755B9C6456}"/>
              </a:ext>
            </a:extLst>
          </p:cNvPr>
          <p:cNvSpPr>
            <a:spLocks noGrp="1"/>
          </p:cNvSpPr>
          <p:nvPr>
            <p:ph type="title"/>
          </p:nvPr>
        </p:nvSpPr>
        <p:spPr/>
        <p:txBody>
          <a:bodyPr/>
          <a:lstStyle/>
          <a:p>
            <a:r>
              <a:rPr lang="en-US"/>
              <a:t>Rolling This Out at Work</a:t>
            </a:r>
          </a:p>
        </p:txBody>
      </p:sp>
      <p:sp>
        <p:nvSpPr>
          <p:cNvPr id="3" name="Content Placeholder 2">
            <a:extLst>
              <a:ext uri="{FF2B5EF4-FFF2-40B4-BE49-F238E27FC236}">
                <a16:creationId xmlns:a16="http://schemas.microsoft.com/office/drawing/2014/main" id="{A5D77EA5-6EF6-BB98-A2E2-5494A12ADFAD}"/>
              </a:ext>
            </a:extLst>
          </p:cNvPr>
          <p:cNvSpPr>
            <a:spLocks noGrp="1"/>
          </p:cNvSpPr>
          <p:nvPr>
            <p:ph idx="1"/>
          </p:nvPr>
        </p:nvSpPr>
        <p:spPr/>
        <p:txBody>
          <a:bodyPr>
            <a:normAutofit/>
          </a:bodyPr>
          <a:lstStyle/>
          <a:p>
            <a:r>
              <a:rPr lang="en-US" sz="1800"/>
              <a:t>Pick one painful, repetitive task to automate first
Prove the value, then share the win with your team
Build a small library of reusable flows and agents
Involve the people who do the work in the design
Iterate — improve flows as needs change</a:t>
            </a:r>
          </a:p>
        </p:txBody>
      </p:sp>
    </p:spTree>
    <p:extLst>
      <p:ext uri="{BB962C8B-B14F-4D97-AF65-F5344CB8AC3E}">
        <p14:creationId xmlns:p14="http://schemas.microsoft.com/office/powerpoint/2010/main" val="191796255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4DB8B-0314-C578-F18D-F0C7D5C8B018}"/>
              </a:ext>
            </a:extLst>
          </p:cNvPr>
          <p:cNvSpPr>
            <a:spLocks noGrp="1"/>
          </p:cNvSpPr>
          <p:nvPr>
            <p:ph type="title"/>
          </p:nvPr>
        </p:nvSpPr>
        <p:spPr/>
        <p:txBody>
          <a:bodyPr/>
          <a:lstStyle/>
          <a:p>
            <a:r>
              <a:rPr lang="en-US"/>
              <a:t>Course Recap — The Big Picture</a:t>
            </a:r>
          </a:p>
        </p:txBody>
      </p:sp>
      <p:sp>
        <p:nvSpPr>
          <p:cNvPr id="3" name="Content Placeholder 2">
            <a:extLst>
              <a:ext uri="{FF2B5EF4-FFF2-40B4-BE49-F238E27FC236}">
                <a16:creationId xmlns:a16="http://schemas.microsoft.com/office/drawing/2014/main" id="{D445FF6A-643A-36F6-288C-4418016B3CB9}"/>
              </a:ext>
            </a:extLst>
          </p:cNvPr>
          <p:cNvSpPr>
            <a:spLocks noGrp="1"/>
          </p:cNvSpPr>
          <p:nvPr>
            <p:ph idx="1"/>
          </p:nvPr>
        </p:nvSpPr>
        <p:spPr/>
        <p:txBody>
          <a:bodyPr>
            <a:normAutofit/>
          </a:bodyPr>
          <a:lstStyle/>
          <a:p>
            <a:r>
              <a:rPr lang="en-US" sz="1800"/>
              <a:t>Day 1: automation logic and Power Automate flows
Day 2: building business agents in Copilot Studio
Day 3: orchestrating agents + flows end to end
You built working automations for real scenarios
You can now design, build and run your own workflows</a:t>
            </a:r>
          </a:p>
        </p:txBody>
      </p:sp>
    </p:spTree>
    <p:extLst>
      <p:ext uri="{BB962C8B-B14F-4D97-AF65-F5344CB8AC3E}">
        <p14:creationId xmlns:p14="http://schemas.microsoft.com/office/powerpoint/2010/main" val="27666484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56BF-B5B7-F33E-DEEB-DC95C630F1F1}"/>
              </a:ext>
            </a:extLst>
          </p:cNvPr>
          <p:cNvSpPr>
            <a:spLocks noGrp="1"/>
          </p:cNvSpPr>
          <p:nvPr>
            <p:ph type="title"/>
          </p:nvPr>
        </p:nvSpPr>
        <p:spPr/>
        <p:txBody>
          <a:bodyPr/>
          <a:lstStyle/>
          <a:p>
            <a:r>
              <a:rPr lang="en-US"/>
              <a:t>Key Takeaways</a:t>
            </a:r>
          </a:p>
        </p:txBody>
      </p:sp>
      <p:sp>
        <p:nvSpPr>
          <p:cNvPr id="3" name="Content Placeholder 2">
            <a:extLst>
              <a:ext uri="{FF2B5EF4-FFF2-40B4-BE49-F238E27FC236}">
                <a16:creationId xmlns:a16="http://schemas.microsoft.com/office/drawing/2014/main" id="{1C9D97EE-B4BF-F57E-5A6F-E19E27A9B88B}"/>
              </a:ext>
            </a:extLst>
          </p:cNvPr>
          <p:cNvSpPr>
            <a:spLocks noGrp="1"/>
          </p:cNvSpPr>
          <p:nvPr>
            <p:ph idx="1"/>
          </p:nvPr>
        </p:nvSpPr>
        <p:spPr/>
        <p:txBody>
          <a:bodyPr>
            <a:normAutofit/>
          </a:bodyPr>
          <a:lstStyle/>
          <a:p>
            <a:r>
              <a:rPr lang="en-US" sz="1800"/>
              <a:t>Every workflow is Trigger → Actions → Output
Power Automate does the work; Copilot Studio adds the intelligence
Structured agent outputs make flows reliable
Orchestration turns steps into complete processes
Start small, test, and improve — then scale</a:t>
            </a:r>
          </a:p>
        </p:txBody>
      </p:sp>
    </p:spTree>
    <p:extLst>
      <p:ext uri="{BB962C8B-B14F-4D97-AF65-F5344CB8AC3E}">
        <p14:creationId xmlns:p14="http://schemas.microsoft.com/office/powerpoint/2010/main" val="234311379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49F80-0CCC-1E84-EF12-A7286325895B}"/>
              </a:ext>
            </a:extLst>
          </p:cNvPr>
          <p:cNvSpPr>
            <a:spLocks noGrp="1"/>
          </p:cNvSpPr>
          <p:nvPr>
            <p:ph type="title"/>
          </p:nvPr>
        </p:nvSpPr>
        <p:spPr/>
        <p:txBody>
          <a:bodyPr/>
          <a:lstStyle/>
          <a:p>
            <a:r>
              <a:rPr lang="en-US"/>
              <a:t>Resources &amp; Where to Go Next</a:t>
            </a:r>
          </a:p>
        </p:txBody>
      </p:sp>
      <p:sp>
        <p:nvSpPr>
          <p:cNvPr id="3" name="Content Placeholder 2">
            <a:extLst>
              <a:ext uri="{FF2B5EF4-FFF2-40B4-BE49-F238E27FC236}">
                <a16:creationId xmlns:a16="http://schemas.microsoft.com/office/drawing/2014/main" id="{60EAC2A6-1F1A-FD31-7E7A-A792B9661E72}"/>
              </a:ext>
            </a:extLst>
          </p:cNvPr>
          <p:cNvSpPr>
            <a:spLocks noGrp="1"/>
          </p:cNvSpPr>
          <p:nvPr>
            <p:ph idx="1"/>
          </p:nvPr>
        </p:nvSpPr>
        <p:spPr/>
        <p:txBody>
          <a:bodyPr>
            <a:normAutofit/>
          </a:bodyPr>
          <a:lstStyle/>
          <a:p>
            <a:r>
              <a:rPr lang="en-US" sz="1800"/>
              <a:t>make.powerautomate.com — build and manage your flows
copilotstudio.microsoft.com — create and publish agents
Microsoft Learn — free guided learning paths
Templates gallery — start from pre-built flows
Your community — share flows and patterns with colleagues</a:t>
            </a:r>
          </a:p>
        </p:txBody>
      </p:sp>
    </p:spTree>
    <p:extLst>
      <p:ext uri="{BB962C8B-B14F-4D97-AF65-F5344CB8AC3E}">
        <p14:creationId xmlns:p14="http://schemas.microsoft.com/office/powerpoint/2010/main" val="2032098328"/>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3FF29D-2E00-A7A1-232C-5186174A1FA9}"/>
              </a:ext>
            </a:extLst>
          </p:cNvPr>
          <p:cNvSpPr>
            <a:spLocks noGrp="1"/>
          </p:cNvSpPr>
          <p:nvPr>
            <p:ph type="title"/>
          </p:nvPr>
        </p:nvSpPr>
        <p:spPr/>
        <p:txBody>
          <a:bodyPr/>
          <a:lstStyle/>
          <a:p>
            <a:r>
              <a:rPr lang="en-US"/>
              <a:t>Thank You</a:t>
            </a:r>
          </a:p>
        </p:txBody>
      </p:sp>
      <p:sp>
        <p:nvSpPr>
          <p:cNvPr id="3" name="Text Placeholder 2">
            <a:extLst>
              <a:ext uri="{FF2B5EF4-FFF2-40B4-BE49-F238E27FC236}">
                <a16:creationId xmlns:a16="http://schemas.microsoft.com/office/drawing/2014/main" id="{0E5E0239-BFD9-3216-03B0-6B956507258A}"/>
              </a:ext>
            </a:extLst>
          </p:cNvPr>
          <p:cNvSpPr>
            <a:spLocks noGrp="1"/>
          </p:cNvSpPr>
          <p:nvPr>
            <p:ph type="body" idx="1"/>
          </p:nvPr>
        </p:nvSpPr>
        <p:spPr/>
        <p:txBody>
          <a:bodyPr>
            <a:normAutofit/>
          </a:bodyPr>
          <a:lstStyle/>
          <a:p>
            <a:r>
              <a:rPr lang="en-US" sz="1800" b="1">
                <a:solidFill>
                  <a:srgbClr val="7C3AED"/>
                </a:solidFill>
              </a:rPr>
              <a:t>Now go automate something — questions welcome</a:t>
            </a:r>
          </a:p>
        </p:txBody>
      </p:sp>
    </p:spTree>
    <p:extLst>
      <p:ext uri="{BB962C8B-B14F-4D97-AF65-F5344CB8AC3E}">
        <p14:creationId xmlns:p14="http://schemas.microsoft.com/office/powerpoint/2010/main" val="393871201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4 — Scheduled Trigger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Send a daily reminder / digest automatically
YOU'LL USE
Recurrence (schedule) trigger
Send an email action
Optional: List rows from Excel</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Trigger: Recurrence — weekdays 9 AM
2.  Set the correct time zone
3.  Action: send a reminder email
4.  Optional: add a live count from Excel
5.  Test now, then let it run on schedule</a:t>
            </a:r>
          </a:p>
        </p:txBody>
      </p:sp>
    </p:spTree>
    <p:extLst>
      <p:ext uri="{BB962C8B-B14F-4D97-AF65-F5344CB8AC3E}">
        <p14:creationId xmlns:p14="http://schemas.microsoft.com/office/powerpoint/2010/main" val="586675484"/>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C4941-4D0E-5C2B-5C04-A18FE6E4CC24}"/>
              </a:ext>
            </a:extLst>
          </p:cNvPr>
          <p:cNvSpPr>
            <a:spLocks noGrp="1"/>
          </p:cNvSpPr>
          <p:nvPr>
            <p:ph type="title"/>
          </p:nvPr>
        </p:nvSpPr>
        <p:spPr/>
        <p:txBody>
          <a:bodyPr/>
          <a:lstStyle/>
          <a:p>
            <a:r>
              <a:rPr lang="en-US"/>
              <a:t>Lab 5 — Form Submission Workflow</a:t>
            </a:r>
          </a:p>
        </p:txBody>
      </p:sp>
      <p:sp>
        <p:nvSpPr>
          <p:cNvPr id="3" name="Content Placeholder 2">
            <a:extLst>
              <a:ext uri="{FF2B5EF4-FFF2-40B4-BE49-F238E27FC236}">
                <a16:creationId xmlns:a16="http://schemas.microsoft.com/office/drawing/2014/main" id="{D967F280-F155-A084-A7DC-5A9A21D152B2}"/>
              </a:ext>
            </a:extLst>
          </p:cNvPr>
          <p:cNvSpPr>
            <a:spLocks noGrp="1"/>
          </p:cNvSpPr>
          <p:nvPr>
            <p:ph sz="half" idx="1"/>
          </p:nvPr>
        </p:nvSpPr>
        <p:spPr/>
        <p:txBody>
          <a:bodyPr>
            <a:normAutofit/>
          </a:bodyPr>
          <a:lstStyle/>
          <a:p>
            <a:r>
              <a:rPr lang="en-US" sz="1600"/>
              <a:t>GOAL
Capture form submissions to email and Excel
YOU'LL USE
Microsoft Forms trigger
Get response details
Send email + Add a row to Excel</a:t>
            </a:r>
          </a:p>
        </p:txBody>
      </p:sp>
      <p:sp>
        <p:nvSpPr>
          <p:cNvPr id="4" name="Content Placeholder 3">
            <a:extLst>
              <a:ext uri="{FF2B5EF4-FFF2-40B4-BE49-F238E27FC236}">
                <a16:creationId xmlns:a16="http://schemas.microsoft.com/office/drawing/2014/main" id="{073DA2BB-4E22-9731-A736-3DE77AD8FC1E}"/>
              </a:ext>
            </a:extLst>
          </p:cNvPr>
          <p:cNvSpPr>
            <a:spLocks noGrp="1"/>
          </p:cNvSpPr>
          <p:nvPr>
            <p:ph sz="half" idx="2"/>
          </p:nvPr>
        </p:nvSpPr>
        <p:spPr/>
        <p:txBody>
          <a:bodyPr>
            <a:normAutofit/>
          </a:bodyPr>
          <a:lstStyle/>
          <a:p>
            <a:r>
              <a:rPr lang="en-US" sz="1600"/>
              <a:t>STEPS
1.  Build a Microsoft Form (shareable URL)
2.  Trigger: when a response is submitted
3.  Get response details
4.  Email the team the new submission
5.  Log the submission to an Excel table</a:t>
            </a:r>
          </a:p>
        </p:txBody>
      </p:sp>
    </p:spTree>
    <p:extLst>
      <p:ext uri="{BB962C8B-B14F-4D97-AF65-F5344CB8AC3E}">
        <p14:creationId xmlns:p14="http://schemas.microsoft.com/office/powerpoint/2010/main" val="5866754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6 — Create Your First Agent</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Build, configure and test your
first Copilot Studio agent
YOU'LL USE
Copilot Studio agent
Instructions + built-in Test pane</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Create a new agent (skip to configure)
2.  Write clear instructions (role + tone)
3.  Add a knowledge source
4.  Test it live in the chat panel
5.  Refine instructions, then publish</a:t>
            </a:r>
          </a:p>
        </p:txBody>
      </p:sp>
    </p:spTree>
    <p:extLst>
      <p:ext uri="{BB962C8B-B14F-4D97-AF65-F5344CB8AC3E}">
        <p14:creationId xmlns:p14="http://schemas.microsoft.com/office/powerpoint/2010/main" val="175085407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7 — Add Knowledge to Your Agent (RAG)</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Ground the agent in your own
documents (RAG) with citations
YOU'LL USE
Knowledge sources (files / website)
Copilot Studio agent</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Prepare a document or website
2.  Add it as a knowledge source
3.  Wait until the source is Ready
4.  Ask questions answered from your content
5.  Check the citations; tune the sources</a:t>
            </a:r>
          </a:p>
        </p:txBody>
      </p:sp>
    </p:spTree>
    <p:extLst>
      <p:ext uri="{BB962C8B-B14F-4D97-AF65-F5344CB8AC3E}">
        <p14:creationId xmlns:p14="http://schemas.microsoft.com/office/powerpoint/2010/main" val="175085407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666CC-AAE9-06B8-D1A6-1E5F90632537}"/>
              </a:ext>
            </a:extLst>
          </p:cNvPr>
          <p:cNvSpPr>
            <a:spLocks noGrp="1"/>
          </p:cNvSpPr>
          <p:nvPr>
            <p:ph type="title"/>
          </p:nvPr>
        </p:nvSpPr>
        <p:spPr/>
        <p:txBody>
          <a:bodyPr/>
          <a:lstStyle/>
          <a:p>
            <a:r>
              <a:rPr lang="en-US"/>
              <a:t>Lab 8 — Add Tools and Actions</a:t>
            </a:r>
          </a:p>
        </p:txBody>
      </p:sp>
      <p:sp>
        <p:nvSpPr>
          <p:cNvPr id="3" name="Content Placeholder 2">
            <a:extLst>
              <a:ext uri="{FF2B5EF4-FFF2-40B4-BE49-F238E27FC236}">
                <a16:creationId xmlns:a16="http://schemas.microsoft.com/office/drawing/2014/main" id="{14102613-EFF2-DF81-651A-F3779CF9FC37}"/>
              </a:ext>
            </a:extLst>
          </p:cNvPr>
          <p:cNvSpPr>
            <a:spLocks noGrp="1"/>
          </p:cNvSpPr>
          <p:nvPr>
            <p:ph sz="half" idx="1"/>
          </p:nvPr>
        </p:nvSpPr>
        <p:spPr/>
        <p:txBody>
          <a:bodyPr>
            <a:normAutofit/>
          </a:bodyPr>
          <a:lstStyle/>
          <a:p>
            <a:r>
              <a:rPr lang="en-US" sz="1600"/>
              <a:t>GOAL
Give the agent tools so it can
act, not just answer
YOU'LL USE
Connector / prebuilt action
A Power Automate flow as a tool</a:t>
            </a:r>
          </a:p>
        </p:txBody>
      </p:sp>
      <p:sp>
        <p:nvSpPr>
          <p:cNvPr id="4" name="Content Placeholder 3">
            <a:extLst>
              <a:ext uri="{FF2B5EF4-FFF2-40B4-BE49-F238E27FC236}">
                <a16:creationId xmlns:a16="http://schemas.microsoft.com/office/drawing/2014/main" id="{CF24EF09-D57E-0B33-E277-90D95CAA3229}"/>
              </a:ext>
            </a:extLst>
          </p:cNvPr>
          <p:cNvSpPr>
            <a:spLocks noGrp="1"/>
          </p:cNvSpPr>
          <p:nvPr>
            <p:ph sz="half" idx="2"/>
          </p:nvPr>
        </p:nvSpPr>
        <p:spPr/>
        <p:txBody>
          <a:bodyPr>
            <a:normAutofit/>
          </a:bodyPr>
          <a:lstStyle/>
          <a:p>
            <a:r>
              <a:rPr lang="en-US" sz="1600"/>
              <a:t>STEPS
1.  Open the Tools tab, add a tool
2.  Add a connector action (e.g. send email)
3.  Describe when the agent should use it
4.  Or add a flow as a tool with inputs
5.  Test the agent performing the action</a:t>
            </a:r>
          </a:p>
        </p:txBody>
      </p:sp>
    </p:spTree>
    <p:extLst>
      <p:ext uri="{BB962C8B-B14F-4D97-AF65-F5344CB8AC3E}">
        <p14:creationId xmlns:p14="http://schemas.microsoft.com/office/powerpoint/2010/main" val="175085407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BA5B65-C72A-CAEF-25C1-93AB41D2A383}"/>
              </a:ext>
            </a:extLst>
          </p:cNvPr>
          <p:cNvSpPr>
            <a:spLocks noGrp="1"/>
          </p:cNvSpPr>
          <p:nvPr>
            <p:ph type="title"/>
          </p:nvPr>
        </p:nvSpPr>
        <p:spPr/>
        <p:txBody>
          <a:bodyPr/>
          <a:lstStyle/>
          <a:p>
            <a:r>
              <a:rPr lang="en-US"/>
              <a:t>Lab 15 — Order Processing (Agent + Flow)</a:t>
            </a:r>
          </a:p>
        </p:txBody>
      </p:sp>
      <p:sp>
        <p:nvSpPr>
          <p:cNvPr id="3" name="Rounded Rectangle 2">
            <a:extLst>
              <a:ext uri="{FF2B5EF4-FFF2-40B4-BE49-F238E27FC236}">
                <a16:creationId xmlns:a16="http://schemas.microsoft.com/office/drawing/2014/main" id="{64ACB2F9-7713-A142-A557-58754543C7A9}"/>
              </a:ext>
            </a:extLst>
          </p:cNvPr>
          <p:cNvSpPr/>
          <p:nvPr/>
        </p:nvSpPr>
        <p:spPr>
          <a:xfrm>
            <a:off x="508000" y="2579688"/>
            <a:ext cx="2413000" cy="1524000"/>
          </a:xfrm>
          <a:prstGeom prst="roundRect">
            <a:avLst/>
          </a:prstGeom>
          <a:solidFill>
            <a:srgbClr val="0E749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CAPTURE ORDER</a:t>
            </a:r>
          </a:p>
        </p:txBody>
      </p:sp>
      <p:sp>
        <p:nvSpPr>
          <p:cNvPr id="4" name="TextBox 3">
            <a:extLst>
              <a:ext uri="{FF2B5EF4-FFF2-40B4-BE49-F238E27FC236}">
                <a16:creationId xmlns:a16="http://schemas.microsoft.com/office/drawing/2014/main" id="{510AE560-109C-9D49-BE00-7ED11EF23A62}"/>
              </a:ext>
            </a:extLst>
          </p:cNvPr>
          <p:cNvSpPr txBox="1"/>
          <p:nvPr/>
        </p:nvSpPr>
        <p:spPr>
          <a:xfrm>
            <a:off x="508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Agent collects order details</a:t>
            </a:r>
          </a:p>
        </p:txBody>
      </p:sp>
      <p:sp>
        <p:nvSpPr>
          <p:cNvPr id="5" name="Right Arrow 4">
            <a:extLst>
              <a:ext uri="{FF2B5EF4-FFF2-40B4-BE49-F238E27FC236}">
                <a16:creationId xmlns:a16="http://schemas.microsoft.com/office/drawing/2014/main" id="{39646F77-6EBF-9C44-929D-647B4917B259}"/>
              </a:ext>
            </a:extLst>
          </p:cNvPr>
          <p:cNvSpPr/>
          <p:nvPr/>
        </p:nvSpPr>
        <p:spPr>
          <a:xfrm>
            <a:off x="2971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6" name="Rounded Rectangle 5">
            <a:extLst>
              <a:ext uri="{FF2B5EF4-FFF2-40B4-BE49-F238E27FC236}">
                <a16:creationId xmlns:a16="http://schemas.microsoft.com/office/drawing/2014/main" id="{EA985192-04F8-9049-8DF2-EDDD6809042F}"/>
              </a:ext>
            </a:extLst>
          </p:cNvPr>
          <p:cNvSpPr/>
          <p:nvPr/>
        </p:nvSpPr>
        <p:spPr>
          <a:xfrm>
            <a:off x="3429000" y="2579688"/>
            <a:ext cx="2413000" cy="1524000"/>
          </a:xfrm>
          <a:prstGeom prst="roundRect">
            <a:avLst/>
          </a:prstGeom>
          <a:solidFill>
            <a:srgbClr val="2563EB"/>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CONFIRM ORDER</a:t>
            </a:r>
          </a:p>
        </p:txBody>
      </p:sp>
      <p:sp>
        <p:nvSpPr>
          <p:cNvPr id="7" name="TextBox 6">
            <a:extLst>
              <a:ext uri="{FF2B5EF4-FFF2-40B4-BE49-F238E27FC236}">
                <a16:creationId xmlns:a16="http://schemas.microsoft.com/office/drawing/2014/main" id="{76128482-238C-A943-8663-270C2432DF4A}"/>
              </a:ext>
            </a:extLst>
          </p:cNvPr>
          <p:cNvSpPr txBox="1"/>
          <p:nvPr/>
        </p:nvSpPr>
        <p:spPr>
          <a:xfrm>
            <a:off x="3429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Generate &amp; send confirmation</a:t>
            </a:r>
          </a:p>
        </p:txBody>
      </p:sp>
      <p:sp>
        <p:nvSpPr>
          <p:cNvPr id="8" name="Right Arrow 7">
            <a:extLst>
              <a:ext uri="{FF2B5EF4-FFF2-40B4-BE49-F238E27FC236}">
                <a16:creationId xmlns:a16="http://schemas.microsoft.com/office/drawing/2014/main" id="{BB916068-A3F4-3942-B3A6-A133B0014DA6}"/>
              </a:ext>
            </a:extLst>
          </p:cNvPr>
          <p:cNvSpPr/>
          <p:nvPr/>
        </p:nvSpPr>
        <p:spPr>
          <a:xfrm>
            <a:off x="5892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9" name="Rounded Rectangle 8">
            <a:extLst>
              <a:ext uri="{FF2B5EF4-FFF2-40B4-BE49-F238E27FC236}">
                <a16:creationId xmlns:a16="http://schemas.microsoft.com/office/drawing/2014/main" id="{55E62487-DC6C-DE4C-8CFA-1A4F355A099E}"/>
              </a:ext>
            </a:extLst>
          </p:cNvPr>
          <p:cNvSpPr/>
          <p:nvPr/>
        </p:nvSpPr>
        <p:spPr>
          <a:xfrm>
            <a:off x="6350000" y="2579688"/>
            <a:ext cx="2413000" cy="1524000"/>
          </a:xfrm>
          <a:prstGeom prst="roundRect">
            <a:avLst/>
          </a:prstGeom>
          <a:solidFill>
            <a:srgbClr val="7C3AED"/>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LOG TO EXCEL</a:t>
            </a:r>
          </a:p>
        </p:txBody>
      </p:sp>
      <p:sp>
        <p:nvSpPr>
          <p:cNvPr id="10" name="TextBox 9">
            <a:extLst>
              <a:ext uri="{FF2B5EF4-FFF2-40B4-BE49-F238E27FC236}">
                <a16:creationId xmlns:a16="http://schemas.microsoft.com/office/drawing/2014/main" id="{98D8FC07-0FFF-3B49-9B97-D3A734E85D93}"/>
              </a:ext>
            </a:extLst>
          </p:cNvPr>
          <p:cNvSpPr txBox="1"/>
          <p:nvPr/>
        </p:nvSpPr>
        <p:spPr>
          <a:xfrm>
            <a:off x="6350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Add the order to the order log</a:t>
            </a:r>
          </a:p>
        </p:txBody>
      </p:sp>
      <p:sp>
        <p:nvSpPr>
          <p:cNvPr id="11" name="Right Arrow 10">
            <a:extLst>
              <a:ext uri="{FF2B5EF4-FFF2-40B4-BE49-F238E27FC236}">
                <a16:creationId xmlns:a16="http://schemas.microsoft.com/office/drawing/2014/main" id="{146AF005-AC64-B84D-BA2C-54A7F1635E01}"/>
              </a:ext>
            </a:extLst>
          </p:cNvPr>
          <p:cNvSpPr/>
          <p:nvPr/>
        </p:nvSpPr>
        <p:spPr>
          <a:xfrm>
            <a:off x="8813800" y="3189288"/>
            <a:ext cx="406400" cy="304800"/>
          </a:xfrm>
          <a:prstGeom prst="rightArrow">
            <a:avLst/>
          </a:prstGeom>
          <a:solidFill>
            <a:srgbClr val="6B7280"/>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en-US"/>
          </a:p>
        </p:txBody>
      </p:sp>
      <p:sp>
        <p:nvSpPr>
          <p:cNvPr id="12" name="Rounded Rectangle 11">
            <a:extLst>
              <a:ext uri="{FF2B5EF4-FFF2-40B4-BE49-F238E27FC236}">
                <a16:creationId xmlns:a16="http://schemas.microsoft.com/office/drawing/2014/main" id="{40C48EF9-9852-9145-9C15-0AE5FBB177F0}"/>
              </a:ext>
            </a:extLst>
          </p:cNvPr>
          <p:cNvSpPr/>
          <p:nvPr/>
        </p:nvSpPr>
        <p:spPr>
          <a:xfrm>
            <a:off x="9271000" y="2579688"/>
            <a:ext cx="2413000" cy="1524000"/>
          </a:xfrm>
          <a:prstGeom prst="roundRect">
            <a:avLst/>
          </a:prstGeom>
          <a:solidFill>
            <a:srgbClr val="047857"/>
          </a:solidFill>
          <a:ln w="1905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nchorCtr="0">
            <a:noAutofit/>
          </a:bodyPr>
          <a:lstStyle/>
          <a:p>
            <a:pPr algn="l"/>
            <a:r>
              <a:rPr lang="en-US" sz="1700" b="1">
                <a:solidFill>
                  <a:srgbClr val="FFFFFF"/>
                </a:solidFill>
              </a:rPr>
              <a:t>RESTOCK ALERT</a:t>
            </a:r>
          </a:p>
        </p:txBody>
      </p:sp>
      <p:sp>
        <p:nvSpPr>
          <p:cNvPr id="13" name="TextBox 12">
            <a:extLst>
              <a:ext uri="{FF2B5EF4-FFF2-40B4-BE49-F238E27FC236}">
                <a16:creationId xmlns:a16="http://schemas.microsoft.com/office/drawing/2014/main" id="{85F4754E-3AEC-1241-8893-5E874B07A9BA}"/>
              </a:ext>
            </a:extLst>
          </p:cNvPr>
          <p:cNvSpPr txBox="1"/>
          <p:nvPr/>
        </p:nvSpPr>
        <p:spPr>
          <a:xfrm>
            <a:off x="9271000" y="4205288"/>
            <a:ext cx="2413000" cy="711200"/>
          </a:xfrm>
          <a:prstGeom prst="rect">
            <a:avLst/>
          </a:prstGeom>
          <a:noFill/>
        </p:spPr>
        <p:txBody>
          <a:bodyPr vertOverflow="overflow" vert="horz" wrap="square" rtlCol="0" anchor="t">
            <a:spAutoFit/>
          </a:bodyPr>
          <a:lstStyle/>
          <a:p>
            <a:pPr algn="l"/>
            <a:r>
              <a:rPr lang="en-US" sz="1400">
                <a:solidFill>
                  <a:srgbClr val="2B2B40"/>
                </a:solidFill>
              </a:rPr>
              <a:t>Alert the warehouse for large orders</a:t>
            </a:r>
          </a:p>
        </p:txBody>
      </p:sp>
      <p:sp>
        <p:nvSpPr>
          <p:cNvPr id="14" name="TextBox 13">
            <a:extLst>
              <a:ext uri="{FF2B5EF4-FFF2-40B4-BE49-F238E27FC236}">
                <a16:creationId xmlns:a16="http://schemas.microsoft.com/office/drawing/2014/main" id="{54552AC4-AEBB-C242-B1CB-68FCD393055F}"/>
              </a:ext>
            </a:extLst>
          </p:cNvPr>
          <p:cNvSpPr txBox="1"/>
          <p:nvPr/>
        </p:nvSpPr>
        <p:spPr>
          <a:xfrm>
            <a:off x="508000" y="5119688"/>
            <a:ext cx="11176000" cy="508000"/>
          </a:xfrm>
          <a:prstGeom prst="rect">
            <a:avLst/>
          </a:prstGeom>
          <a:noFill/>
        </p:spPr>
        <p:txBody>
          <a:bodyPr vertOverflow="overflow" vert="horz" wrap="square" rtlCol="0" anchor="t">
            <a:spAutoFit/>
          </a:bodyPr>
          <a:lstStyle/>
          <a:p>
            <a:pPr algn="l"/>
            <a:r>
              <a:rPr lang="en-US" sz="1600" i="1">
                <a:solidFill>
                  <a:srgbClr val="2B2B40"/>
                </a:solidFill>
              </a:rPr>
              <a:t>An order is captured by an agent, then confirmed, logged and flagged for restock — end to end.</a:t>
            </a:r>
          </a:p>
        </p:txBody>
      </p:sp>
    </p:spTree>
    <p:extLst>
      <p:ext uri="{BB962C8B-B14F-4D97-AF65-F5344CB8AC3E}">
        <p14:creationId xmlns:p14="http://schemas.microsoft.com/office/powerpoint/2010/main" val="227056571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29970F-766C-166A-5620-4126F34ABFF3}"/>
              </a:ext>
            </a:extLst>
          </p:cNvPr>
          <p:cNvSpPr>
            <a:spLocks noGrp="1"/>
          </p:cNvSpPr>
          <p:nvPr>
            <p:ph type="title"/>
          </p:nvPr>
        </p:nvSpPr>
        <p:spPr/>
        <p:txBody>
          <a:bodyPr/>
          <a:lstStyle/>
          <a:p>
            <a:r>
              <a:rPr lang="en-US"/>
              <a:t>Common Errors &amp; Quick Fixes</a:t>
            </a:r>
          </a:p>
        </p:txBody>
      </p:sp>
      <p:sp>
        <p:nvSpPr>
          <p:cNvPr id="3" name="Content Placeholder 2">
            <a:extLst>
              <a:ext uri="{FF2B5EF4-FFF2-40B4-BE49-F238E27FC236}">
                <a16:creationId xmlns:a16="http://schemas.microsoft.com/office/drawing/2014/main" id="{98BCE675-06D6-7CA1-31B0-216798C26704}"/>
              </a:ext>
            </a:extLst>
          </p:cNvPr>
          <p:cNvSpPr>
            <a:spLocks noGrp="1"/>
          </p:cNvSpPr>
          <p:nvPr>
            <p:ph idx="1"/>
          </p:nvPr>
        </p:nvSpPr>
        <p:spPr/>
        <p:txBody>
          <a:bodyPr>
            <a:normAutofit/>
          </a:bodyPr>
          <a:lstStyle/>
          <a:p>
            <a:r>
              <a:rPr lang="en-US" sz="1800"/>
              <a:t>“Unauthorized” sending email — reconnect Outlook with a mailbox-enabled account
Approval ‘valid users’ error — pick the approver from the dropdown (a real user in your tenant)
Date shows literal utcNow() — enter it via the fx / Expression editor so it becomes a token
Excel cell shows ######## — the column is just too narrow; auto-fit it
Unwanted ‘For each’, or agent can’t see its flow — use single-value fields; same environment in both tools</a:t>
            </a:r>
          </a:p>
        </p:txBody>
      </p:sp>
    </p:spTree>
    <p:extLst>
      <p:ext uri="{BB962C8B-B14F-4D97-AF65-F5344CB8AC3E}">
        <p14:creationId xmlns:p14="http://schemas.microsoft.com/office/powerpoint/2010/main" val="2083644524"/>
      </p:ext>
    </p:extLst>
  </p:cSld>
  <p:clrMapOvr>
    <a:masterClrMapping/>
  </p:clrMapOvr>
</p:sld>
</file>

<file path=ppt/theme/theme1.xml><?xml version="1.0" encoding="utf-8"?>
<a:theme xmlns:a="http://schemas.openxmlformats.org/drawingml/2006/main" name="Office Theme [1782148472114]">
  <a:themeElements>
    <a:clrScheme name="Office">
      <a:dk1>
        <a:srgbClr val="1B1B2F"/>
      </a:dk1>
      <a:lt1>
        <a:srgbClr val="FFFFFF"/>
      </a:lt1>
      <a:dk2>
        <a:srgbClr val="2B2B40"/>
      </a:dk2>
      <a:lt2>
        <a:srgbClr val="F3F5FB"/>
      </a:lt2>
      <a:accent1>
        <a:srgbClr val="2563EB"/>
      </a:accent1>
      <a:accent2>
        <a:srgbClr val="7C3AED"/>
      </a:accent2>
      <a:accent3>
        <a:srgbClr val="06B6D4"/>
      </a:accent3>
      <a:accent4>
        <a:srgbClr val="DB2777"/>
      </a:accent4>
      <a:accent5>
        <a:srgbClr val="10B981"/>
      </a:accent5>
      <a:accent6>
        <a:srgbClr val="F59E0B"/>
      </a:accent6>
      <a:hlink>
        <a:srgbClr val="467886"/>
      </a:hlink>
      <a:folHlink>
        <a:srgbClr val="96607D"/>
      </a:folHlink>
    </a:clrScheme>
    <a:fontScheme name="Office">
      <a:majorFont>
        <a:latin typeface="Segoe UI Semibold"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Segoe UI"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Relationships xmlns="http://schemas.openxmlformats.org/package/2006/relationships">
  
  
  <Relationship Id="rId1" Type="http://schemas.microsoft.com/office/2011/relationships/webextension" Target="webextension1.xml"/>
  

</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DDBB792-EE95-D44E-9920-6DFB61B67727}">
  <we:reference id="WA200010001" version="1.0.0.1" store="Omex" storeType="OMEX"/>
  <we:alternateReferences>
    <we:reference id="WA200010001" version="1.0.0.1" store="WA200010001" storeType="OMEX"/>
  </we:alternateReferences>
  <we:properties>
    <we:property name="claude.fileId" value="&quot;e129c31c-d639-492d-b1a1-2a7d8dffa55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1529</TotalTime>
  <Words>4806</Words>
  <Application>Microsoft Macintosh PowerPoint</Application>
  <PresentationFormat>Widescreen</PresentationFormat>
  <Paragraphs>225</Paragraphs>
  <Slides>87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87</vt:i4>
      </vt:variant>
    </vt:vector>
  </HeadingPairs>
  <TitlesOfParts>
    <vt:vector size="91" baseType="lpstr">
      <vt:lpstr>Arial</vt:lpstr>
      <vt:lpstr>Segoe UI</vt:lpstr>
      <vt:lpstr>Segoe UI Semibold</vt:lpstr>
      <vt:lpstr>Office Theme [1782148472114]</vt:lpstr>
      <vt:lpstr>Microsoft Copilot Studio &amp; Power Automate</vt:lpstr>
      <vt:lpstr>What You'll Learn</vt:lpstr>
      <vt:lpstr>Your 3-Day Journey</vt:lpstr>
      <vt:lpstr>How This Course Works</vt:lpstr>
      <vt:lpstr>Day 1 — Foundations &amp; Power Automate</vt:lpstr>
      <vt:lpstr>Module 1 · Introduction to Workflow Automation</vt:lpstr>
      <vt:lpstr>What Is Business Workflow Automation?</vt:lpstr>
      <vt:lpstr>Why Automate?</vt:lpstr>
      <vt:lpstr>Manual Process vs. Automated Workflow</vt:lpstr>
      <vt:lpstr>Standalone Agents vs. Integrated Workflows</vt:lpstr>
      <vt:lpstr>Introduction to Workflow Logic</vt:lpstr>
      <vt:lpstr>Triggers — What Starts a Workflow</vt:lpstr>
      <vt:lpstr>Actions — What the Workflow Does</vt:lpstr>
      <vt:lpstr>Outputs — The Result</vt:lpstr>
      <vt:lpstr>Workflow Steps — Putting It Together</vt:lpstr>
      <vt:lpstr>Anatomy of a Workflow</vt:lpstr>
      <vt:lpstr>Module 1 Recap</vt:lpstr>
      <vt:lpstr>Module 2 · Introduction to Power Automate</vt:lpstr>
      <vt:lpstr>Overview of Power Automate</vt:lpstr>
      <vt:lpstr>Types of Flow</vt:lpstr>
      <vt:lpstr>The Maker Experience</vt:lpstr>
      <vt:lpstr>Common Triggers</vt:lpstr>
      <vt:lpstr>Trigger: Email Received</vt:lpstr>
      <vt:lpstr>Trigger: File Upload</vt:lpstr>
      <vt:lpstr>Trigger: Form Submission</vt:lpstr>
      <vt:lpstr>Creating Workflow Actions</vt:lpstr>
      <vt:lpstr>Action: Send Emails</vt:lpstr>
      <vt:lpstr>Action: Create Excel Entries</vt:lpstr>
      <vt:lpstr>Action: Notifications &amp; Approvals</vt:lpstr>
      <vt:lpstr>Connectors — Linking It All Together</vt:lpstr>
      <vt:lpstr>Hands-On Labs · Power Automate</vt:lpstr>
      <vt:lpstr>Lab 1 — Automated Email Workflow</vt:lpstr>
      <vt:lpstr>Lab 2 — Excel Data Logging Workflow</vt:lpstr>
      <vt:lpstr>Lab 3 — Simple Approval Workflow</vt:lpstr>
      <vt:lpstr>Day 1 Recap</vt:lpstr>
      <vt:lpstr>Day 2 — Building Business Agents with Copilot Studio</vt:lpstr>
      <vt:lpstr>Day 2 Roadmap</vt:lpstr>
      <vt:lpstr>Module 3 · Building Business Agents with Copilot Studio</vt:lpstr>
      <vt:lpstr>What Is Copilot Studio?</vt:lpstr>
      <vt:lpstr>The Copilot Studio Maker</vt:lpstr>
      <vt:lpstr>How an Agent Works</vt:lpstr>
      <vt:lpstr>What Makes a Good Business Agent</vt:lpstr>
      <vt:lpstr>Creating Practical Business Agents</vt:lpstr>
      <vt:lpstr>Prompt Design Fundamentals</vt:lpstr>
      <vt:lpstr>Prompt Design for Structured Outputs</vt:lpstr>
      <vt:lpstr>Structured Output Formats</vt:lpstr>
      <vt:lpstr>Example: A Structured Prompt</vt:lpstr>
      <vt:lpstr>Connecting Agents to Power Automate Flows</vt:lpstr>
      <vt:lpstr>Passing Outputs into Workflows</vt:lpstr>
      <vt:lpstr>Input and Output Mapping</vt:lpstr>
      <vt:lpstr>Best Practices for Agent + Flow</vt:lpstr>
      <vt:lpstr>How Agents and Power Automate Work Together</vt:lpstr>
      <vt:lpstr>Hands-On Labs · Copilot Studio</vt:lpstr>
      <vt:lpstr>Lab 4 — Sales Enquiry Assistant</vt:lpstr>
      <vt:lpstr>Lab 5 — Procurement Request Workflow</vt:lpstr>
      <vt:lpstr>Lab 6 — Automated Response Generation</vt:lpstr>
      <vt:lpstr>Testing &amp; Debugging Agents</vt:lpstr>
      <vt:lpstr>Day 2 Recap</vt:lpstr>
      <vt:lpstr>Day 3 — End-to-End Automation &amp; Workshop</vt:lpstr>
      <vt:lpstr>Module 4 · End-to-End Workflow Automation</vt:lpstr>
      <vt:lpstr>Agents + Power Automate, End to End</vt:lpstr>
      <vt:lpstr>Workflow Orchestration</vt:lpstr>
      <vt:lpstr>Orchestration Patterns</vt:lpstr>
      <vt:lpstr>Managing Outputs &amp; Next Steps</vt:lpstr>
      <vt:lpstr>Error Handling &amp; Monitoring</vt:lpstr>
      <vt:lpstr>Business Workflow Examples</vt:lpstr>
      <vt:lpstr>Example 1 — Email Enquiry → Excel → Notification</vt:lpstr>
      <vt:lpstr>Example 2 — Invoice Upload → Approval</vt:lpstr>
      <vt:lpstr>Example 3 — Purchase Request → Approval → Notification</vt:lpstr>
      <vt:lpstr>Module 4 Recap</vt:lpstr>
      <vt:lpstr>Module 5 · Business Workflow Workshop</vt:lpstr>
      <vt:lpstr>Workshop Overview</vt:lpstr>
      <vt:lpstr>How the Workshop Works</vt:lpstr>
      <vt:lpstr>Track A — Sales</vt:lpstr>
      <vt:lpstr>Track B — Finance</vt:lpstr>
      <vt:lpstr>Track C — Procurement</vt:lpstr>
      <vt:lpstr>Track D — Order Processing</vt:lpstr>
      <vt:lpstr>Build Guidelines &amp; Success Criteria</vt:lpstr>
      <vt:lpstr>Present &amp; Get Feedback</vt:lpstr>
      <vt:lpstr>What You Can Automate Next</vt:lpstr>
      <vt:lpstr>Common Pitfalls to Avoid</vt:lpstr>
      <vt:lpstr>Governance &amp; Security Basics</vt:lpstr>
      <vt:lpstr>Rolling This Out at Work</vt:lpstr>
      <vt:lpstr>Course Recap — The Big Picture</vt:lpstr>
      <vt:lpstr>Key Takeaways</vt:lpstr>
      <vt:lpstr>Resources &amp; Where to Go Next</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Tertiary Infotech Admin</dc:creator>
  <cp:lastModifiedBy>Tertiary Infotech Admin</cp:lastModifiedBy>
  <cp:revision>2</cp:revision>
  <dcterms:created xsi:type="dcterms:W3CDTF">2026-06-22T17:06:55Z</dcterms:created>
  <dcterms:modified xsi:type="dcterms:W3CDTF">2026-06-23T18:36:15Z</dcterms:modified>
</cp:coreProperties>
</file>